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7" r:id="rId1"/>
  </p:sldMasterIdLst>
  <p:notesMasterIdLst>
    <p:notesMasterId r:id="rId22"/>
  </p:notesMasterIdLst>
  <p:sldIdLst>
    <p:sldId id="256" r:id="rId2"/>
    <p:sldId id="257" r:id="rId3"/>
    <p:sldId id="258" r:id="rId4"/>
    <p:sldId id="276" r:id="rId8"/>
    <p:sldId id="277" r:id="rId9"/>
    <p:sldId id="280" r:id="rId12"/>
    <p:sldId id="281" r:id="rId13"/>
    <p:sldId id="282" r:id="rId14"/>
    <p:sldId id="283" r:id="rId15"/>
    <p:sldId id="284" r:id="rId17"/>
    <p:sldId id="285" r:id="rId18"/>
    <p:sldId id="273" r:id="rId19"/>
    <p:sldId id="28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85"/>
    <p:restoredTop sz="94686"/>
  </p:normalViewPr>
  <p:slideViewPr>
    <p:cSldViewPr snapToGrid="0">
      <p:cViewPr varScale="1">
        <p:scale>
          <a:sx n="101" d="100"/>
          <a:sy n="101" d="100"/>
        </p:scale>
        <p:origin x="720" y="19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20" Type="http://schemas.openxmlformats.org/officeDocument/2006/relationships/slide" Target="slides/slide19.xml"/><Relationship Id="rId1" Type="http://schemas.openxmlformats.org/officeDocument/2006/relationships/slideMaster" Target="slideMasters/slideMaster1.xml"/><Relationship Id="rId24" Type="http://schemas.openxmlformats.org/officeDocument/2006/relationships/viewProps" Target="viewProps.xml"/><Relationship Id="rId15" Type="http://schemas.openxmlformats.org/officeDocument/2006/relationships/slide" Target="slides/slide14.xml"/><Relationship Id="rId23" Type="http://schemas.openxmlformats.org/officeDocument/2006/relationships/presProps" Target="presProp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6666F4-87CC-944D-9720-C0160CF39058}" type="datetimeFigureOut">
              <a:rPr lang="en-US" smtClean="0"/>
              <a:t>10/2/26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9AA1E8-5CA5-F341-A5DD-DFE639E72747}" type="slidenum">
              <a:rPr lang="en-US" smtClean="0"/>
              <a:t>‹#›</a:t>
            </a:fld>
            <a:endParaRPr lang="en-US"/>
          </a:p>
        </p:txBody>
      </p:sp>
    </p:spTree>
    <p:extLst>
      <p:ext uri="{BB962C8B-B14F-4D97-AF65-F5344CB8AC3E}">
        <p14:creationId xmlns:p14="http://schemas.microsoft.com/office/powerpoint/2010/main" val="739935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objectives: measure both temperatures with independent probes, choose the fan state automatically with hysteresis and a minimum dwell so the fans never chatter, and show live values on three OLEDs with buzzer alerts: three chirps on every state change and a continuous alarm only on a sensor fault. The constraints shaped the design: 3.3 V logic with a separate 5 V fan supply and a common ground, non-blocking firmware, the outside probe kept out of the exhaust plume, and no refrigeration, so the system cannot cool below outside air.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six specifications were verified on hardware. The thresholds are not arbitrary: the DS18B20 is accurate to about 0.9 F either way, so the 3 F on/off band and the 2 F cooler-air margin are wider than sensor noise. A fault is declared within 7.5 seconds at the 2.5-second sensor period. The firmware works in Celsius internally.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approaches were considered. Scheduled ventilation runs the fans on a timer: simple, but blind to temperature. Indoor sensing alone starts the fans when the chamber is hot, but can pull in even hotter outside air. Indoor-outdoor comparison needs more control logic, but it is the only option that knows when outside air will actually help, so it was selected.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blocks: sensing, processing, actuation, user interface and power. The intake sits low on one wall and the exhaust high on the opposite wall, so air crosses the chamber diagonally. The controller runs from USB-C and the fans from a separate 5 V supply, joined by a common ground.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Sensor validity is checked first, so a missing reading can never fall through to an idle state. The 80/77 F hysteresis then decides whether there is heat demand. If there is, the inside-outside comparison picks the state: CROSS_VENT when outside is at least 2 F cooler, SEALED when it is at least 3 F hotter, and EXHAUST_ONLY when they are close. The loop repeats every sensor period, with a 10-second minimum dwell.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Sheet 1 of the schematic: two DS18B20 probes on GPIO 4 and 16, three SSD1306 OLED panels across two I2C buses, and the active-low buzzer on GPIO 23. Every part is 3.3 V native, so there is no level shifter. The six lines on the right go to the fan driver.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was measured on the assembled hardware on 24 September 2026. The first four rows were reached by setting test temperatures through the firmware console, with the real fans and buzzer as outputs. The last row used real heat: the inside probe was warmed by hand, and the fans started at 80.8 F and stopped at 76.9 F without chattering. Unplugging a probe gave FAULT after three bad reads, and it recovered on its own when reconnected. The enclosure cooling test is still to come.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parts cost $46.89 in total. The buzzer was $1.09 and the 5 V 2 A supply $4.12, shown together in one row. The 1.58 W power figure is a calculated estimate, not a measurement.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hidden during the presentation. Manufacturer datasheets used in the design.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02EEC-0A4E-EB73-B371-A94D759287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7A3A324-E0A3-37C9-90D0-23EE9E1428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4021C7B-05E8-BE53-459A-ACC51AAAE780}"/>
              </a:ext>
            </a:extLst>
          </p:cNvPr>
          <p:cNvSpPr>
            <a:spLocks noGrp="1"/>
          </p:cNvSpPr>
          <p:nvPr>
            <p:ph type="dt" sz="half" idx="10"/>
          </p:nvPr>
        </p:nvSpPr>
        <p:spPr/>
        <p:txBody>
          <a:bodyPr/>
          <a:lstStyle/>
          <a:p>
            <a:fld id="{4ECCC143-12EB-E64B-8C54-66DC8EB23C55}" type="datetimeFigureOut">
              <a:rPr lang="en-US" smtClean="0"/>
              <a:t>10/2/26</a:t>
            </a:fld>
            <a:endParaRPr lang="en-US"/>
          </a:p>
        </p:txBody>
      </p:sp>
      <p:sp>
        <p:nvSpPr>
          <p:cNvPr id="5" name="Footer Placeholder 4">
            <a:extLst>
              <a:ext uri="{FF2B5EF4-FFF2-40B4-BE49-F238E27FC236}">
                <a16:creationId xmlns:a16="http://schemas.microsoft.com/office/drawing/2014/main" id="{21A0FEA6-576E-8059-482E-257A237286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6FC900-1E2B-19B6-1F86-5CA55A9BF4EE}"/>
              </a:ext>
            </a:extLst>
          </p:cNvPr>
          <p:cNvSpPr>
            <a:spLocks noGrp="1"/>
          </p:cNvSpPr>
          <p:nvPr>
            <p:ph type="sldNum" sz="quarter" idx="12"/>
          </p:nvPr>
        </p:nvSpPr>
        <p:spPr/>
        <p:txBody>
          <a:bodyPr/>
          <a:lstStyle/>
          <a:p>
            <a:fld id="{CA47A952-0F8F-D54E-8C61-71132CCC6548}" type="slidenum">
              <a:rPr lang="en-US" smtClean="0"/>
              <a:t>‹#›</a:t>
            </a:fld>
            <a:endParaRPr lang="en-US"/>
          </a:p>
        </p:txBody>
      </p:sp>
    </p:spTree>
    <p:extLst>
      <p:ext uri="{BB962C8B-B14F-4D97-AF65-F5344CB8AC3E}">
        <p14:creationId xmlns:p14="http://schemas.microsoft.com/office/powerpoint/2010/main" val="2275620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D3-A6F8-B40A-4228-61022797CA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13E773-915E-CFDC-45E3-7F28CEBBE8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C3827F-A99D-79E9-9884-F4A8FEF06A0A}"/>
              </a:ext>
            </a:extLst>
          </p:cNvPr>
          <p:cNvSpPr>
            <a:spLocks noGrp="1"/>
          </p:cNvSpPr>
          <p:nvPr>
            <p:ph type="dt" sz="half" idx="10"/>
          </p:nvPr>
        </p:nvSpPr>
        <p:spPr/>
        <p:txBody>
          <a:bodyPr/>
          <a:lstStyle/>
          <a:p>
            <a:fld id="{4ECCC143-12EB-E64B-8C54-66DC8EB23C55}" type="datetimeFigureOut">
              <a:rPr lang="en-US" smtClean="0"/>
              <a:t>10/2/26</a:t>
            </a:fld>
            <a:endParaRPr lang="en-US"/>
          </a:p>
        </p:txBody>
      </p:sp>
      <p:sp>
        <p:nvSpPr>
          <p:cNvPr id="5" name="Footer Placeholder 4">
            <a:extLst>
              <a:ext uri="{FF2B5EF4-FFF2-40B4-BE49-F238E27FC236}">
                <a16:creationId xmlns:a16="http://schemas.microsoft.com/office/drawing/2014/main" id="{4ECDAFAA-EF8C-E7D7-FB1B-6FD8E2F3F0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D4DD27-5C29-2E9C-808F-D66B49B7A816}"/>
              </a:ext>
            </a:extLst>
          </p:cNvPr>
          <p:cNvSpPr>
            <a:spLocks noGrp="1"/>
          </p:cNvSpPr>
          <p:nvPr>
            <p:ph type="sldNum" sz="quarter" idx="12"/>
          </p:nvPr>
        </p:nvSpPr>
        <p:spPr/>
        <p:txBody>
          <a:bodyPr/>
          <a:lstStyle/>
          <a:p>
            <a:fld id="{CA47A952-0F8F-D54E-8C61-71132CCC6548}" type="slidenum">
              <a:rPr lang="en-US" smtClean="0"/>
              <a:t>‹#›</a:t>
            </a:fld>
            <a:endParaRPr lang="en-US"/>
          </a:p>
        </p:txBody>
      </p:sp>
    </p:spTree>
    <p:extLst>
      <p:ext uri="{BB962C8B-B14F-4D97-AF65-F5344CB8AC3E}">
        <p14:creationId xmlns:p14="http://schemas.microsoft.com/office/powerpoint/2010/main" val="4009936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C9614-9C50-8811-AE5F-9C79575C33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F766D6F-1180-29F3-C524-86F6CE0E13D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D1C325-B80A-94A2-9998-7697188E2C79}"/>
              </a:ext>
            </a:extLst>
          </p:cNvPr>
          <p:cNvSpPr>
            <a:spLocks noGrp="1"/>
          </p:cNvSpPr>
          <p:nvPr>
            <p:ph type="dt" sz="half" idx="10"/>
          </p:nvPr>
        </p:nvSpPr>
        <p:spPr/>
        <p:txBody>
          <a:bodyPr/>
          <a:lstStyle/>
          <a:p>
            <a:fld id="{4ECCC143-12EB-E64B-8C54-66DC8EB23C55}" type="datetimeFigureOut">
              <a:rPr lang="en-US" smtClean="0"/>
              <a:t>10/2/26</a:t>
            </a:fld>
            <a:endParaRPr lang="en-US"/>
          </a:p>
        </p:txBody>
      </p:sp>
      <p:sp>
        <p:nvSpPr>
          <p:cNvPr id="5" name="Footer Placeholder 4">
            <a:extLst>
              <a:ext uri="{FF2B5EF4-FFF2-40B4-BE49-F238E27FC236}">
                <a16:creationId xmlns:a16="http://schemas.microsoft.com/office/drawing/2014/main" id="{CB84C506-856B-F1E4-7338-11CFD63E62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6EA605-C1A4-79D4-A73A-D9EBF9970E52}"/>
              </a:ext>
            </a:extLst>
          </p:cNvPr>
          <p:cNvSpPr>
            <a:spLocks noGrp="1"/>
          </p:cNvSpPr>
          <p:nvPr>
            <p:ph type="sldNum" sz="quarter" idx="12"/>
          </p:nvPr>
        </p:nvSpPr>
        <p:spPr/>
        <p:txBody>
          <a:bodyPr/>
          <a:lstStyle/>
          <a:p>
            <a:fld id="{CA47A952-0F8F-D54E-8C61-71132CCC6548}" type="slidenum">
              <a:rPr lang="en-US" smtClean="0"/>
              <a:t>‹#›</a:t>
            </a:fld>
            <a:endParaRPr lang="en-US"/>
          </a:p>
        </p:txBody>
      </p:sp>
    </p:spTree>
    <p:extLst>
      <p:ext uri="{BB962C8B-B14F-4D97-AF65-F5344CB8AC3E}">
        <p14:creationId xmlns:p14="http://schemas.microsoft.com/office/powerpoint/2010/main" val="1832078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D912F-499F-EB50-1A93-191BFFEB0F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075D0F-0CFA-DBAB-2BA0-B03B5608EA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5D3198-343B-4720-4F7C-8E4D538D24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037ABE5-8A0D-CD89-A0DC-31C43A7C3354}"/>
              </a:ext>
            </a:extLst>
          </p:cNvPr>
          <p:cNvSpPr>
            <a:spLocks noGrp="1"/>
          </p:cNvSpPr>
          <p:nvPr>
            <p:ph type="dt" sz="half" idx="10"/>
          </p:nvPr>
        </p:nvSpPr>
        <p:spPr/>
        <p:txBody>
          <a:bodyPr/>
          <a:lstStyle/>
          <a:p>
            <a:fld id="{4ECCC143-12EB-E64B-8C54-66DC8EB23C55}" type="datetimeFigureOut">
              <a:rPr lang="en-US" smtClean="0"/>
              <a:t>10/2/26</a:t>
            </a:fld>
            <a:endParaRPr lang="en-US"/>
          </a:p>
        </p:txBody>
      </p:sp>
      <p:sp>
        <p:nvSpPr>
          <p:cNvPr id="6" name="Footer Placeholder 5">
            <a:extLst>
              <a:ext uri="{FF2B5EF4-FFF2-40B4-BE49-F238E27FC236}">
                <a16:creationId xmlns:a16="http://schemas.microsoft.com/office/drawing/2014/main" id="{94D0D705-5191-0905-EF73-FD8E727CC5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B1D550-5890-AEDC-3015-251FB80E53A4}"/>
              </a:ext>
            </a:extLst>
          </p:cNvPr>
          <p:cNvSpPr>
            <a:spLocks noGrp="1"/>
          </p:cNvSpPr>
          <p:nvPr>
            <p:ph type="sldNum" sz="quarter" idx="12"/>
          </p:nvPr>
        </p:nvSpPr>
        <p:spPr/>
        <p:txBody>
          <a:bodyPr/>
          <a:lstStyle/>
          <a:p>
            <a:fld id="{CA47A952-0F8F-D54E-8C61-71132CCC6548}" type="slidenum">
              <a:rPr lang="en-US" smtClean="0"/>
              <a:t>‹#›</a:t>
            </a:fld>
            <a:endParaRPr lang="en-US"/>
          </a:p>
        </p:txBody>
      </p:sp>
    </p:spTree>
    <p:extLst>
      <p:ext uri="{BB962C8B-B14F-4D97-AF65-F5344CB8AC3E}">
        <p14:creationId xmlns:p14="http://schemas.microsoft.com/office/powerpoint/2010/main" val="1133160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49300-B1EC-24E6-260F-13A67EE3B98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6132440-B2ED-91D5-F51F-312AA2274F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4AB0316-3B0B-208D-B9CF-41967C199AB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FBA18DA-04EF-0A82-4FB7-89641EA2DE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ED1AB1-0E2F-0EDF-98DF-2383E2C1762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EF9C8FF-E066-6D3C-F434-99395F7B1952}"/>
              </a:ext>
            </a:extLst>
          </p:cNvPr>
          <p:cNvSpPr>
            <a:spLocks noGrp="1"/>
          </p:cNvSpPr>
          <p:nvPr>
            <p:ph type="dt" sz="half" idx="10"/>
          </p:nvPr>
        </p:nvSpPr>
        <p:spPr/>
        <p:txBody>
          <a:bodyPr/>
          <a:lstStyle/>
          <a:p>
            <a:fld id="{4ECCC143-12EB-E64B-8C54-66DC8EB23C55}" type="datetimeFigureOut">
              <a:rPr lang="en-US" smtClean="0"/>
              <a:t>10/2/26</a:t>
            </a:fld>
            <a:endParaRPr lang="en-US"/>
          </a:p>
        </p:txBody>
      </p:sp>
      <p:sp>
        <p:nvSpPr>
          <p:cNvPr id="8" name="Footer Placeholder 7">
            <a:extLst>
              <a:ext uri="{FF2B5EF4-FFF2-40B4-BE49-F238E27FC236}">
                <a16:creationId xmlns:a16="http://schemas.microsoft.com/office/drawing/2014/main" id="{421B1986-49E2-ADC1-C7DC-33BBEACB1C6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01144BF-F824-BC8F-4018-FEEF0FAC6535}"/>
              </a:ext>
            </a:extLst>
          </p:cNvPr>
          <p:cNvSpPr>
            <a:spLocks noGrp="1"/>
          </p:cNvSpPr>
          <p:nvPr>
            <p:ph type="sldNum" sz="quarter" idx="12"/>
          </p:nvPr>
        </p:nvSpPr>
        <p:spPr/>
        <p:txBody>
          <a:bodyPr/>
          <a:lstStyle/>
          <a:p>
            <a:fld id="{CA47A952-0F8F-D54E-8C61-71132CCC6548}" type="slidenum">
              <a:rPr lang="en-US" smtClean="0"/>
              <a:t>‹#›</a:t>
            </a:fld>
            <a:endParaRPr lang="en-US"/>
          </a:p>
        </p:txBody>
      </p:sp>
    </p:spTree>
    <p:extLst>
      <p:ext uri="{BB962C8B-B14F-4D97-AF65-F5344CB8AC3E}">
        <p14:creationId xmlns:p14="http://schemas.microsoft.com/office/powerpoint/2010/main" val="2283831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DA059-B40C-0E41-96CB-107A0FC81B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AFEAA64-B70A-7EF8-41D9-E744A101A5AE}"/>
              </a:ext>
            </a:extLst>
          </p:cNvPr>
          <p:cNvSpPr>
            <a:spLocks noGrp="1"/>
          </p:cNvSpPr>
          <p:nvPr>
            <p:ph type="dt" sz="half" idx="10"/>
          </p:nvPr>
        </p:nvSpPr>
        <p:spPr/>
        <p:txBody>
          <a:bodyPr/>
          <a:lstStyle/>
          <a:p>
            <a:fld id="{4ECCC143-12EB-E64B-8C54-66DC8EB23C55}" type="datetimeFigureOut">
              <a:rPr lang="en-US" smtClean="0"/>
              <a:t>10/2/26</a:t>
            </a:fld>
            <a:endParaRPr lang="en-US"/>
          </a:p>
        </p:txBody>
      </p:sp>
      <p:sp>
        <p:nvSpPr>
          <p:cNvPr id="4" name="Footer Placeholder 3">
            <a:extLst>
              <a:ext uri="{FF2B5EF4-FFF2-40B4-BE49-F238E27FC236}">
                <a16:creationId xmlns:a16="http://schemas.microsoft.com/office/drawing/2014/main" id="{CC13242B-29B2-558E-B5D8-42B1EB35007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67FBB00-B61D-7F27-04BD-9AB883DEAD11}"/>
              </a:ext>
            </a:extLst>
          </p:cNvPr>
          <p:cNvSpPr>
            <a:spLocks noGrp="1"/>
          </p:cNvSpPr>
          <p:nvPr>
            <p:ph type="sldNum" sz="quarter" idx="12"/>
          </p:nvPr>
        </p:nvSpPr>
        <p:spPr/>
        <p:txBody>
          <a:bodyPr/>
          <a:lstStyle/>
          <a:p>
            <a:fld id="{CA47A952-0F8F-D54E-8C61-71132CCC6548}" type="slidenum">
              <a:rPr lang="en-US" smtClean="0"/>
              <a:t>‹#›</a:t>
            </a:fld>
            <a:endParaRPr lang="en-US"/>
          </a:p>
        </p:txBody>
      </p:sp>
    </p:spTree>
    <p:extLst>
      <p:ext uri="{BB962C8B-B14F-4D97-AF65-F5344CB8AC3E}">
        <p14:creationId xmlns:p14="http://schemas.microsoft.com/office/powerpoint/2010/main" val="3543490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5787BB-5DE5-8264-FA67-A2B05DDC2B04}"/>
              </a:ext>
            </a:extLst>
          </p:cNvPr>
          <p:cNvSpPr>
            <a:spLocks noGrp="1"/>
          </p:cNvSpPr>
          <p:nvPr>
            <p:ph type="dt" sz="half" idx="10"/>
          </p:nvPr>
        </p:nvSpPr>
        <p:spPr/>
        <p:txBody>
          <a:bodyPr/>
          <a:lstStyle/>
          <a:p>
            <a:fld id="{4ECCC143-12EB-E64B-8C54-66DC8EB23C55}" type="datetimeFigureOut">
              <a:rPr lang="en-US" smtClean="0"/>
              <a:t>10/2/26</a:t>
            </a:fld>
            <a:endParaRPr lang="en-US"/>
          </a:p>
        </p:txBody>
      </p:sp>
      <p:sp>
        <p:nvSpPr>
          <p:cNvPr id="3" name="Footer Placeholder 2">
            <a:extLst>
              <a:ext uri="{FF2B5EF4-FFF2-40B4-BE49-F238E27FC236}">
                <a16:creationId xmlns:a16="http://schemas.microsoft.com/office/drawing/2014/main" id="{220BA9CC-F5FE-EFCD-8C05-330E599397E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45750F7-51F2-F40F-D5CE-D79B66506CDB}"/>
              </a:ext>
            </a:extLst>
          </p:cNvPr>
          <p:cNvSpPr>
            <a:spLocks noGrp="1"/>
          </p:cNvSpPr>
          <p:nvPr>
            <p:ph type="sldNum" sz="quarter" idx="12"/>
          </p:nvPr>
        </p:nvSpPr>
        <p:spPr/>
        <p:txBody>
          <a:bodyPr/>
          <a:lstStyle/>
          <a:p>
            <a:fld id="{CA47A952-0F8F-D54E-8C61-71132CCC6548}" type="slidenum">
              <a:rPr lang="en-US" smtClean="0"/>
              <a:t>‹#›</a:t>
            </a:fld>
            <a:endParaRPr lang="en-US"/>
          </a:p>
        </p:txBody>
      </p:sp>
    </p:spTree>
    <p:extLst>
      <p:ext uri="{BB962C8B-B14F-4D97-AF65-F5344CB8AC3E}">
        <p14:creationId xmlns:p14="http://schemas.microsoft.com/office/powerpoint/2010/main" val="39286454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5FB6C-80EE-73A1-2229-48EF3BEDB4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D923426-E0D8-AA1E-B662-F922DC2E72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9A98FC-35B2-C634-C045-FE5B51761E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042CC3-AB3A-BBCE-910F-CF341289D828}"/>
              </a:ext>
            </a:extLst>
          </p:cNvPr>
          <p:cNvSpPr>
            <a:spLocks noGrp="1"/>
          </p:cNvSpPr>
          <p:nvPr>
            <p:ph type="dt" sz="half" idx="10"/>
          </p:nvPr>
        </p:nvSpPr>
        <p:spPr/>
        <p:txBody>
          <a:bodyPr/>
          <a:lstStyle/>
          <a:p>
            <a:fld id="{4ECCC143-12EB-E64B-8C54-66DC8EB23C55}" type="datetimeFigureOut">
              <a:rPr lang="en-US" smtClean="0"/>
              <a:t>10/2/26</a:t>
            </a:fld>
            <a:endParaRPr lang="en-US"/>
          </a:p>
        </p:txBody>
      </p:sp>
      <p:sp>
        <p:nvSpPr>
          <p:cNvPr id="6" name="Footer Placeholder 5">
            <a:extLst>
              <a:ext uri="{FF2B5EF4-FFF2-40B4-BE49-F238E27FC236}">
                <a16:creationId xmlns:a16="http://schemas.microsoft.com/office/drawing/2014/main" id="{23CFF189-F24C-B53F-7619-83F4BA6733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B4D068-A42E-680E-CC45-24745847F2B4}"/>
              </a:ext>
            </a:extLst>
          </p:cNvPr>
          <p:cNvSpPr>
            <a:spLocks noGrp="1"/>
          </p:cNvSpPr>
          <p:nvPr>
            <p:ph type="sldNum" sz="quarter" idx="12"/>
          </p:nvPr>
        </p:nvSpPr>
        <p:spPr/>
        <p:txBody>
          <a:bodyPr/>
          <a:lstStyle/>
          <a:p>
            <a:fld id="{CA47A952-0F8F-D54E-8C61-71132CCC6548}" type="slidenum">
              <a:rPr lang="en-US" smtClean="0"/>
              <a:t>‹#›</a:t>
            </a:fld>
            <a:endParaRPr lang="en-US"/>
          </a:p>
        </p:txBody>
      </p:sp>
    </p:spTree>
    <p:extLst>
      <p:ext uri="{BB962C8B-B14F-4D97-AF65-F5344CB8AC3E}">
        <p14:creationId xmlns:p14="http://schemas.microsoft.com/office/powerpoint/2010/main" val="2879491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2B343-51BE-BC89-4CA6-D541005FB0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6A6C215-8307-CEA5-7B64-92C502F13733}"/>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8346F64-9882-197E-F4FB-9C94157768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E35311-CBC9-78F5-C3F3-4D0B95EB44EF}"/>
              </a:ext>
            </a:extLst>
          </p:cNvPr>
          <p:cNvSpPr>
            <a:spLocks noGrp="1"/>
          </p:cNvSpPr>
          <p:nvPr>
            <p:ph type="dt" sz="half" idx="10"/>
          </p:nvPr>
        </p:nvSpPr>
        <p:spPr/>
        <p:txBody>
          <a:bodyPr/>
          <a:lstStyle/>
          <a:p>
            <a:fld id="{4ECCC143-12EB-E64B-8C54-66DC8EB23C55}" type="datetimeFigureOut">
              <a:rPr lang="en-US" smtClean="0"/>
              <a:t>10/2/26</a:t>
            </a:fld>
            <a:endParaRPr lang="en-US"/>
          </a:p>
        </p:txBody>
      </p:sp>
      <p:sp>
        <p:nvSpPr>
          <p:cNvPr id="6" name="Footer Placeholder 5">
            <a:extLst>
              <a:ext uri="{FF2B5EF4-FFF2-40B4-BE49-F238E27FC236}">
                <a16:creationId xmlns:a16="http://schemas.microsoft.com/office/drawing/2014/main" id="{3096CF3E-6FF3-3AAA-1F2A-E1DACEAA8A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29BE2C-EAFE-8511-2C30-DCB1EC9CE227}"/>
              </a:ext>
            </a:extLst>
          </p:cNvPr>
          <p:cNvSpPr>
            <a:spLocks noGrp="1"/>
          </p:cNvSpPr>
          <p:nvPr>
            <p:ph type="sldNum" sz="quarter" idx="12"/>
          </p:nvPr>
        </p:nvSpPr>
        <p:spPr/>
        <p:txBody>
          <a:bodyPr/>
          <a:lstStyle/>
          <a:p>
            <a:fld id="{CA47A952-0F8F-D54E-8C61-71132CCC6548}" type="slidenum">
              <a:rPr lang="en-US" smtClean="0"/>
              <a:t>‹#›</a:t>
            </a:fld>
            <a:endParaRPr lang="en-US"/>
          </a:p>
        </p:txBody>
      </p:sp>
    </p:spTree>
    <p:extLst>
      <p:ext uri="{BB962C8B-B14F-4D97-AF65-F5344CB8AC3E}">
        <p14:creationId xmlns:p14="http://schemas.microsoft.com/office/powerpoint/2010/main" val="27181584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6343C-9C9F-2D71-39FA-EA3B8545593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87A36E-BCEF-BCB3-8D0F-C296CE8F42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C4FAE2-4BA3-4AA5-5EDF-D28871E41C9F}"/>
              </a:ext>
            </a:extLst>
          </p:cNvPr>
          <p:cNvSpPr>
            <a:spLocks noGrp="1"/>
          </p:cNvSpPr>
          <p:nvPr>
            <p:ph type="dt" sz="half" idx="10"/>
          </p:nvPr>
        </p:nvSpPr>
        <p:spPr/>
        <p:txBody>
          <a:bodyPr/>
          <a:lstStyle/>
          <a:p>
            <a:fld id="{4ECCC143-12EB-E64B-8C54-66DC8EB23C55}" type="datetimeFigureOut">
              <a:rPr lang="en-US" smtClean="0"/>
              <a:t>10/2/26</a:t>
            </a:fld>
            <a:endParaRPr lang="en-US"/>
          </a:p>
        </p:txBody>
      </p:sp>
      <p:sp>
        <p:nvSpPr>
          <p:cNvPr id="5" name="Footer Placeholder 4">
            <a:extLst>
              <a:ext uri="{FF2B5EF4-FFF2-40B4-BE49-F238E27FC236}">
                <a16:creationId xmlns:a16="http://schemas.microsoft.com/office/drawing/2014/main" id="{C60569A1-33E0-9EB3-2162-0BC30B6558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73B029-60ED-94B9-0044-6764D2EB03F2}"/>
              </a:ext>
            </a:extLst>
          </p:cNvPr>
          <p:cNvSpPr>
            <a:spLocks noGrp="1"/>
          </p:cNvSpPr>
          <p:nvPr>
            <p:ph type="sldNum" sz="quarter" idx="12"/>
          </p:nvPr>
        </p:nvSpPr>
        <p:spPr/>
        <p:txBody>
          <a:bodyPr/>
          <a:lstStyle/>
          <a:p>
            <a:fld id="{CA47A952-0F8F-D54E-8C61-71132CCC6548}" type="slidenum">
              <a:rPr lang="en-US" smtClean="0"/>
              <a:t>‹#›</a:t>
            </a:fld>
            <a:endParaRPr lang="en-US"/>
          </a:p>
        </p:txBody>
      </p:sp>
    </p:spTree>
    <p:extLst>
      <p:ext uri="{BB962C8B-B14F-4D97-AF65-F5344CB8AC3E}">
        <p14:creationId xmlns:p14="http://schemas.microsoft.com/office/powerpoint/2010/main" val="3927039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22D295-AE7F-86AC-87D6-C00A3730A00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D9DCA66-7419-7627-5AD2-4034E0B6DE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7E2E87-6030-8377-5798-36B477971207}"/>
              </a:ext>
            </a:extLst>
          </p:cNvPr>
          <p:cNvSpPr>
            <a:spLocks noGrp="1"/>
          </p:cNvSpPr>
          <p:nvPr>
            <p:ph type="dt" sz="half" idx="10"/>
          </p:nvPr>
        </p:nvSpPr>
        <p:spPr/>
        <p:txBody>
          <a:bodyPr/>
          <a:lstStyle/>
          <a:p>
            <a:fld id="{4ECCC143-12EB-E64B-8C54-66DC8EB23C55}" type="datetimeFigureOut">
              <a:rPr lang="en-US" smtClean="0"/>
              <a:t>10/2/26</a:t>
            </a:fld>
            <a:endParaRPr lang="en-US"/>
          </a:p>
        </p:txBody>
      </p:sp>
      <p:sp>
        <p:nvSpPr>
          <p:cNvPr id="5" name="Footer Placeholder 4">
            <a:extLst>
              <a:ext uri="{FF2B5EF4-FFF2-40B4-BE49-F238E27FC236}">
                <a16:creationId xmlns:a16="http://schemas.microsoft.com/office/drawing/2014/main" id="{87FC3E27-178D-B875-D538-5C16432D9D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DE2E68-52D9-8D50-760B-6C4ABE226678}"/>
              </a:ext>
            </a:extLst>
          </p:cNvPr>
          <p:cNvSpPr>
            <a:spLocks noGrp="1"/>
          </p:cNvSpPr>
          <p:nvPr>
            <p:ph type="sldNum" sz="quarter" idx="12"/>
          </p:nvPr>
        </p:nvSpPr>
        <p:spPr/>
        <p:txBody>
          <a:bodyPr/>
          <a:lstStyle/>
          <a:p>
            <a:fld id="{CA47A952-0F8F-D54E-8C61-71132CCC6548}" type="slidenum">
              <a:rPr lang="en-US" smtClean="0"/>
              <a:t>‹#›</a:t>
            </a:fld>
            <a:endParaRPr lang="en-US"/>
          </a:p>
        </p:txBody>
      </p:sp>
    </p:spTree>
    <p:extLst>
      <p:ext uri="{BB962C8B-B14F-4D97-AF65-F5344CB8AC3E}">
        <p14:creationId xmlns:p14="http://schemas.microsoft.com/office/powerpoint/2010/main" val="1746282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FD39E3-4B0E-57C1-1E11-BE15B56077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C5409AA-75F7-B23A-3213-37F0E197AE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23CD48-CC9B-5034-427F-36879BB6AC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CCC143-12EB-E64B-8C54-66DC8EB23C55}" type="datetimeFigureOut">
              <a:rPr lang="en-US" smtClean="0"/>
              <a:t>10/2/26</a:t>
            </a:fld>
            <a:endParaRPr lang="en-US"/>
          </a:p>
        </p:txBody>
      </p:sp>
      <p:sp>
        <p:nvSpPr>
          <p:cNvPr id="5" name="Footer Placeholder 4">
            <a:extLst>
              <a:ext uri="{FF2B5EF4-FFF2-40B4-BE49-F238E27FC236}">
                <a16:creationId xmlns:a16="http://schemas.microsoft.com/office/drawing/2014/main" id="{0D8C32B4-2892-B1BD-941C-1FB99BF127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8E14AFA-6D3A-E5D4-9021-0152D251C0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A47A952-0F8F-D54E-8C61-71132CCC6548}" type="slidenum">
              <a:rPr lang="en-US" smtClean="0"/>
              <a:t>‹#›</a:t>
            </a:fld>
            <a:endParaRPr lang="en-US"/>
          </a:p>
        </p:txBody>
      </p:sp>
    </p:spTree>
    <p:extLst>
      <p:ext uri="{BB962C8B-B14F-4D97-AF65-F5344CB8AC3E}">
        <p14:creationId xmlns:p14="http://schemas.microsoft.com/office/powerpoint/2010/main" val="3239738917"/>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0"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B2118-556B-631B-AB71-11DA1AE1D49F}"/>
              </a:ext>
            </a:extLst>
          </p:cNvPr>
          <p:cNvSpPr>
            <a:spLocks noGrp="1"/>
          </p:cNvSpPr>
          <p:nvPr>
            <p:ph type="ctrTitle"/>
          </p:nvPr>
        </p:nvSpPr>
        <p:spPr>
          <a:xfrm>
            <a:off x="1524000" y="1122363"/>
            <a:ext cx="9144000" cy="1744663"/>
          </a:xfrm>
        </p:spPr>
        <p:txBody>
          <a:bodyPr>
            <a:normAutofit fontScale="90000"/>
          </a:bodyPr>
          <a:lstStyle/>
          <a:p>
            <a:r>
              <a:rPr lang="en-US" b="1" dirty="0">
                <a:latin typeface="Times New Roman" panose="02020603050405020304" pitchFamily="18" charset="0"/>
                <a:cs typeface="Times New Roman" panose="02020603050405020304" pitchFamily="18" charset="0"/>
              </a:rPr>
              <a:t>Design of an Automated Warehouse Ventilation System</a:t>
            </a:r>
          </a:p>
        </p:txBody>
      </p:sp>
      <p:sp>
        <p:nvSpPr>
          <p:cNvPr id="3" name="Subtitle 2">
            <a:extLst>
              <a:ext uri="{FF2B5EF4-FFF2-40B4-BE49-F238E27FC236}">
                <a16:creationId xmlns:a16="http://schemas.microsoft.com/office/drawing/2014/main" id="{FA3AF0D6-49F4-904C-5310-A848CED594CF}"/>
              </a:ext>
            </a:extLst>
          </p:cNvPr>
          <p:cNvSpPr>
            <a:spLocks noGrp="1"/>
          </p:cNvSpPr>
          <p:nvPr>
            <p:ph type="subTitle" idx="1"/>
          </p:nvPr>
        </p:nvSpPr>
        <p:spPr>
          <a:xfrm>
            <a:off x="1524000" y="3602037"/>
            <a:ext cx="9588500" cy="2133599"/>
          </a:xfrm>
        </p:spPr>
        <p:txBody>
          <a:bodyPr>
            <a:normAutofit fontScale="25000" lnSpcReduction="20000"/>
          </a:bodyPr>
          <a:lstStyle/>
          <a:p>
            <a:r>
              <a:rPr lang="en-US" sz="7200" b="1" dirty="0">
                <a:latin typeface="Times New Roman" panose="02020603050405020304" pitchFamily="18" charset="0"/>
                <a:cs typeface="Times New Roman" panose="02020603050405020304" pitchFamily="18" charset="0"/>
              </a:rPr>
              <a:t>Presented by: Tabitha Tabb and Terrence Parham</a:t>
            </a:r>
          </a:p>
          <a:p>
            <a:r>
              <a:rPr lang="en-US" sz="7200" b="1" dirty="0">
                <a:latin typeface="Times New Roman" panose="02020603050405020304" pitchFamily="18" charset="0"/>
                <a:cs typeface="Times New Roman" panose="02020603050405020304" pitchFamily="18" charset="0"/>
              </a:rPr>
              <a:t>Tennessee State University </a:t>
            </a:r>
          </a:p>
          <a:p>
            <a:r>
              <a:rPr lang="en-US" sz="7200" b="1" dirty="0">
                <a:latin typeface="Times New Roman" panose="02020603050405020304" pitchFamily="18" charset="0"/>
                <a:cs typeface="Times New Roman" panose="02020603050405020304" pitchFamily="18" charset="0"/>
              </a:rPr>
              <a:t>College of Engineering </a:t>
            </a:r>
          </a:p>
          <a:p>
            <a:r>
              <a:rPr lang="en-US" sz="7200" b="1" dirty="0">
                <a:latin typeface="Times New Roman" panose="02020603050405020304" pitchFamily="18" charset="0"/>
                <a:cs typeface="Times New Roman" panose="02020603050405020304" pitchFamily="18" charset="0"/>
              </a:rPr>
              <a:t>EECE 4101 - Electrical Systems Design Lab</a:t>
            </a:r>
          </a:p>
          <a:p>
            <a:r>
              <a:rPr lang="en-US" sz="7200" b="1" dirty="0">
                <a:latin typeface="Times New Roman" panose="02020603050405020304" pitchFamily="18" charset="0"/>
                <a:cs typeface="Times New Roman" panose="02020603050405020304" pitchFamily="18" charset="0"/>
              </a:rPr>
              <a:t>Fall 2026</a:t>
            </a:r>
          </a:p>
          <a:p>
            <a:r>
              <a:rPr lang="en-US" sz="7200" b="1" dirty="0">
                <a:latin typeface="Times New Roman" panose="02020603050405020304" pitchFamily="18" charset="0"/>
                <a:cs typeface="Times New Roman" panose="02020603050405020304" pitchFamily="18" charset="0"/>
              </a:rPr>
              <a:t>Department of Electrical and Computer Engineering</a:t>
            </a:r>
          </a:p>
          <a:p>
            <a:br>
              <a:rPr lang="en-US" dirty="0"/>
            </a:br>
            <a:br>
              <a:rPr lang="en-US" dirty="0"/>
            </a:br>
            <a:endParaRPr lang="en-US" dirty="0"/>
          </a:p>
        </p:txBody>
      </p:sp>
    </p:spTree>
    <p:extLst>
      <p:ext uri="{BB962C8B-B14F-4D97-AF65-F5344CB8AC3E}">
        <p14:creationId xmlns:p14="http://schemas.microsoft.com/office/powerpoint/2010/main" val="2296439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20624" y="283464"/>
            <a:ext cx="11356848" cy="950976"/>
          </a:xfrm>
          <a:prstGeom prst="rect">
            <a:avLst/>
          </a:prstGeom>
          <a:noFill/>
          <a:ln w="0">
            <a:noFill/>
          </a:ln>
        </p:spPr>
        <p:txBody>
          <a:bodyPr wrap="square" lIns="0" tIns="0" rIns="0" bIns="0" anchor="t">
            <a:noAutofit/>
          </a:bodyPr>
          <a:lstStyle/>
          <a:p>
            <a:pPr algn="l">
              <a:buNone/>
            </a:pPr>
            <a:r>
              <a:rPr lang="en-US" sz="5100" b="1" dirty="0">
                <a:solidFill>
                  <a:srgbClr val="000000"/>
                </a:solidFill>
                <a:latin typeface="Times New Roman"/>
                <a:ea typeface="Times New Roman"/>
                <a:cs typeface="Times New Roman"/>
              </a:rPr>
              <a:t>Outline</a:t>
            </a:r>
          </a:p>
        </p:txBody>
      </p:sp>
      <p:sp>
        <p:nvSpPr>
          <p:cNvPr id="3" name="Outline List"/>
          <p:cNvSpPr txBox="1"/>
          <p:nvPr/>
        </p:nvSpPr>
        <p:spPr>
          <a:xfrm>
            <a:off x="685800" y="1463040"/>
            <a:ext cx="6035040" cy="4846320"/>
          </a:xfrm>
          <a:prstGeom prst="rect">
            <a:avLst/>
          </a:prstGeom>
          <a:noFill/>
          <a:ln w="0">
            <a:noFill/>
          </a:ln>
        </p:spPr>
        <p:txBody>
          <a:bodyPr wrap="square" lIns="0" tIns="0" rIns="0" bIns="0" anchor="t">
            <a:noAutofit/>
          </a:bodyPr>
          <a:lstStyle/>
          <a:p>
            <a:pPr algn="l" marL="342900" indent="-342900">
              <a:spcAft>
                <a:spcPts val="600"/>
              </a:spcAft>
              <a:buFont typeface="Arial"/>
              <a:buChar char="•"/>
            </a:pPr>
            <a:r>
              <a:rPr lang="en-US" sz="2400" b="1" dirty="0">
                <a:solidFill>
                  <a:srgbClr val="000000"/>
                </a:solidFill>
                <a:latin typeface="Times New Roman"/>
                <a:ea typeface="Times New Roman"/>
                <a:cs typeface="Times New Roman"/>
              </a:rPr>
              <a:t>Problem, Need and Goal</a:t>
            </a:r>
          </a:p>
          <a:p>
            <a:pPr algn="l" marL="342900" indent="-342900">
              <a:spcAft>
                <a:spcPts val="600"/>
              </a:spcAft>
              <a:buFont typeface="Arial"/>
              <a:buChar char="•"/>
            </a:pPr>
            <a:r>
              <a:rPr lang="en-US" sz="2400" b="1" dirty="0">
                <a:solidFill>
                  <a:srgbClr val="000000"/>
                </a:solidFill>
                <a:latin typeface="Times New Roman"/>
                <a:ea typeface="Times New Roman"/>
                <a:cs typeface="Times New Roman"/>
              </a:rPr>
              <a:t>Objectives and Constraints</a:t>
            </a:r>
          </a:p>
          <a:p>
            <a:pPr algn="l" marL="342900" indent="-342900">
              <a:spcAft>
                <a:spcPts val="600"/>
              </a:spcAft>
              <a:buFont typeface="Arial"/>
              <a:buChar char="•"/>
            </a:pPr>
            <a:r>
              <a:rPr lang="en-US" sz="2400" b="1" dirty="0">
                <a:solidFill>
                  <a:srgbClr val="000000"/>
                </a:solidFill>
                <a:latin typeface="Times New Roman"/>
                <a:ea typeface="Times New Roman"/>
                <a:cs typeface="Times New Roman"/>
              </a:rPr>
              <a:t>Design Specifications</a:t>
            </a:r>
          </a:p>
          <a:p>
            <a:pPr algn="l" marL="342900" indent="-342900">
              <a:spcAft>
                <a:spcPts val="600"/>
              </a:spcAft>
              <a:buFont typeface="Arial"/>
              <a:buChar char="•"/>
            </a:pPr>
            <a:r>
              <a:rPr lang="en-US" sz="2400" b="1" dirty="0">
                <a:solidFill>
                  <a:srgbClr val="000000"/>
                </a:solidFill>
                <a:latin typeface="Times New Roman"/>
                <a:ea typeface="Times New Roman"/>
                <a:cs typeface="Times New Roman"/>
              </a:rPr>
              <a:t>Alternative Solutions and Selection</a:t>
            </a:r>
          </a:p>
          <a:p>
            <a:pPr algn="l" marL="342900" indent="-342900">
              <a:spcAft>
                <a:spcPts val="600"/>
              </a:spcAft>
              <a:buFont typeface="Arial"/>
              <a:buChar char="•"/>
            </a:pPr>
            <a:r>
              <a:rPr lang="en-US" sz="2400" b="1" dirty="0">
                <a:solidFill>
                  <a:srgbClr val="000000"/>
                </a:solidFill>
                <a:latin typeface="Times New Roman"/>
                <a:ea typeface="Times New Roman"/>
                <a:cs typeface="Times New Roman"/>
              </a:rPr>
              <a:t>System Decomposition</a:t>
            </a:r>
          </a:p>
          <a:p>
            <a:pPr algn="l" marL="342900" indent="-342900">
              <a:spcAft>
                <a:spcPts val="600"/>
              </a:spcAft>
              <a:buFont typeface="Arial"/>
              <a:buChar char="•"/>
            </a:pPr>
            <a:r>
              <a:rPr lang="en-US" sz="2400" b="1" dirty="0">
                <a:solidFill>
                  <a:srgbClr val="000000"/>
                </a:solidFill>
                <a:latin typeface="Times New Roman"/>
                <a:ea typeface="Times New Roman"/>
                <a:cs typeface="Times New Roman"/>
              </a:rPr>
              <a:t>System Flowchart</a:t>
            </a:r>
          </a:p>
          <a:p>
            <a:pPr algn="l" marL="342900" indent="-342900">
              <a:spcAft>
                <a:spcPts val="600"/>
              </a:spcAft>
              <a:buFont typeface="Arial"/>
              <a:buChar char="•"/>
            </a:pPr>
            <a:r>
              <a:rPr lang="en-US" sz="2400" b="1" dirty="0">
                <a:solidFill>
                  <a:srgbClr val="000000"/>
                </a:solidFill>
                <a:latin typeface="Times New Roman"/>
                <a:ea typeface="Times New Roman"/>
                <a:cs typeface="Times New Roman"/>
              </a:rPr>
              <a:t>System Schematic</a:t>
            </a:r>
          </a:p>
          <a:p>
            <a:pPr algn="l" marL="342900" indent="-342900">
              <a:spcAft>
                <a:spcPts val="600"/>
              </a:spcAft>
              <a:buFont typeface="Arial"/>
              <a:buChar char="•"/>
            </a:pPr>
            <a:r>
              <a:rPr lang="en-US" sz="2400" b="1" dirty="0">
                <a:solidFill>
                  <a:srgbClr val="000000"/>
                </a:solidFill>
                <a:latin typeface="Times New Roman"/>
                <a:ea typeface="Times New Roman"/>
                <a:cs typeface="Times New Roman"/>
              </a:rPr>
              <a:t>Completed System and Test Results</a:t>
            </a:r>
          </a:p>
          <a:p>
            <a:pPr algn="l" marL="342900" indent="-342900">
              <a:spcAft>
                <a:spcPts val="600"/>
              </a:spcAft>
              <a:buFont typeface="Arial"/>
              <a:buChar char="•"/>
            </a:pPr>
            <a:r>
              <a:rPr lang="en-US" sz="2400" b="1" dirty="0">
                <a:solidFill>
                  <a:srgbClr val="000000"/>
                </a:solidFill>
                <a:latin typeface="Times New Roman"/>
                <a:ea typeface="Times New Roman"/>
                <a:cs typeface="Times New Roman"/>
              </a:rPr>
              <a:t>Cost Analysis</a:t>
            </a:r>
          </a:p>
          <a:p>
            <a:pPr algn="l" marL="342900" indent="-342900">
              <a:spcAft>
                <a:spcPts val="600"/>
              </a:spcAft>
              <a:buFont typeface="Arial"/>
              <a:buChar char="•"/>
            </a:pPr>
            <a:r>
              <a:rPr lang="en-US" sz="2400" b="1" dirty="0">
                <a:solidFill>
                  <a:srgbClr val="000000"/>
                </a:solidFill>
                <a:latin typeface="Times New Roman"/>
                <a:ea typeface="Times New Roman"/>
                <a:cs typeface="Times New Roman"/>
              </a:rPr>
              <a:t>Conclusion</a:t>
            </a:r>
          </a:p>
        </p:txBody>
      </p:sp>
      <p:sp>
        <p:nvSpPr>
          <p:cNvPr id="4" name="Slide Number"/>
          <p:cNvSpPr txBox="1"/>
          <p:nvPr/>
        </p:nvSpPr>
        <p:spPr>
          <a:xfrm>
            <a:off x="11521440" y="6528816"/>
            <a:ext cx="283464" cy="192024"/>
          </a:xfrm>
          <a:prstGeom prst="rect">
            <a:avLst/>
          </a:prstGeom>
          <a:noFill/>
          <a:ln w="0">
            <a:noFill/>
          </a:ln>
        </p:spPr>
        <p:txBody>
          <a:bodyPr wrap="square" lIns="0" tIns="0" rIns="0" bIns="0" anchor="t">
            <a:noAutofit/>
          </a:bodyPr>
          <a:lstStyle/>
          <a:p>
            <a:pPr algn="r">
              <a:buNone/>
            </a:pPr>
            <a:r>
              <a:rPr lang="en-US" sz="975" b="0" dirty="0">
                <a:solidFill>
                  <a:srgbClr val="000000"/>
                </a:solidFill>
                <a:latin typeface="Times New Roman"/>
                <a:ea typeface="Times New Roman"/>
                <a:cs typeface="Times New Roman"/>
              </a:rPr>
              <a:t>2</a:t>
            </a:r>
          </a:p>
        </p:txBody>
      </p:sp>
      <p:pic>
        <p:nvPicPr>
          <p:cNvPr id="20" name="Prototype Photo" descr="Top-down photo of the early breadboard prototype with the ESP32, fan driver and OLED panels reading 75.9 and 75.7 F"/>
          <p:cNvPicPr>
            <a:picLocks noChangeAspect="1"/>
          </p:cNvPicPr>
          <p:nvPr/>
        </p:nvPicPr>
        <p:blipFill>
          <a:blip r:embed="rId20"/>
          <a:stretch>
            <a:fillRect/>
          </a:stretch>
        </p:blipFill>
        <p:spPr>
          <a:xfrm>
            <a:off x="6949440" y="1463040"/>
            <a:ext cx="4818888" cy="3614166"/>
          </a:xfrm>
          <a:prstGeom prst="rect">
            <a:avLst/>
          </a:prstGeom>
        </p:spPr>
      </p:pic>
      <p:sp>
        <p:nvSpPr>
          <p:cNvPr id="21" name="Photo Caption"/>
          <p:cNvSpPr txBox="1"/>
          <p:nvPr/>
        </p:nvSpPr>
        <p:spPr>
          <a:xfrm>
            <a:off x="6949440" y="5166360"/>
            <a:ext cx="4818888" cy="329184"/>
          </a:xfrm>
          <a:prstGeom prst="rect">
            <a:avLst/>
          </a:prstGeom>
          <a:noFill/>
          <a:ln w="0">
            <a:noFill/>
          </a:ln>
        </p:spPr>
        <p:txBody>
          <a:bodyPr wrap="square" lIns="0" tIns="0" rIns="0" bIns="0">
            <a:noAutofit/>
          </a:bodyPr>
          <a:lstStyle/>
          <a:p>
            <a:pPr algn="l">
              <a:buNone/>
            </a:pPr>
            <a:r>
              <a:rPr lang="en-US" sz="1800" b="1" dirty="0">
                <a:solidFill>
                  <a:srgbClr val="000000"/>
                </a:solidFill>
                <a:latin typeface="Times New Roman"/>
                <a:ea typeface="Times New Roman"/>
                <a:cs typeface="Times New Roman"/>
              </a:rPr>
              <a:t>Early prototype on the bench</a:t>
            </a:r>
          </a:p>
        </p:txBody>
      </p:sp>
    </p:spTree>
    <p:extLst>
      <p:ext uri="{BB962C8B-B14F-4D97-AF65-F5344CB8AC3E}">
        <p14:creationId xmlns:p14="http://schemas.microsoft.com/office/powerpoint/2010/main" val="169790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20624" y="283464"/>
            <a:ext cx="11356848" cy="950976"/>
          </a:xfrm>
          <a:prstGeom prst="rect">
            <a:avLst/>
          </a:prstGeom>
          <a:noFill/>
          <a:ln w="0">
            <a:noFill/>
          </a:ln>
        </p:spPr>
        <p:txBody>
          <a:bodyPr wrap="square" lIns="0" tIns="0" rIns="0" bIns="0" anchor="t">
            <a:noAutofit/>
          </a:bodyPr>
          <a:lstStyle/>
          <a:p>
            <a:pPr algn="l">
              <a:buNone/>
            </a:pPr>
            <a:r>
              <a:rPr lang="en-US" sz="5100" b="1" dirty="0">
                <a:solidFill>
                  <a:srgbClr val="000000"/>
                </a:solidFill>
                <a:latin typeface="Times New Roman"/>
                <a:ea typeface="Times New Roman"/>
                <a:cs typeface="Times New Roman"/>
              </a:rPr>
              <a:t>Problem, Need and Goal</a:t>
            </a:r>
          </a:p>
        </p:txBody>
      </p:sp>
      <p:sp>
        <p:nvSpPr>
          <p:cNvPr id="3" name="Problem Label"/>
          <p:cNvSpPr txBox="1"/>
          <p:nvPr/>
        </p:nvSpPr>
        <p:spPr>
          <a:xfrm>
            <a:off x="420624" y="1463040"/>
            <a:ext cx="11338560" cy="411480"/>
          </a:xfrm>
          <a:prstGeom prst="rect">
            <a:avLst/>
          </a:prstGeom>
          <a:noFill/>
          <a:ln w="0">
            <a:noFill/>
          </a:ln>
        </p:spPr>
        <p:txBody>
          <a:bodyPr wrap="square" lIns="0" tIns="0" rIns="0" bIns="0" anchor="t">
            <a:noAutofit/>
          </a:bodyPr>
          <a:lstStyle/>
          <a:p>
            <a:pPr algn="l">
              <a:buNone/>
            </a:pPr>
            <a:r>
              <a:rPr lang="en-US" sz="2600" b="1" dirty="0">
                <a:solidFill>
                  <a:srgbClr val="000000"/>
                </a:solidFill>
                <a:latin typeface="Times New Roman"/>
                <a:ea typeface="Times New Roman"/>
                <a:cs typeface="Times New Roman"/>
              </a:rPr>
              <a:t>Problem</a:t>
            </a:r>
          </a:p>
        </p:txBody>
      </p:sp>
      <p:sp>
        <p:nvSpPr>
          <p:cNvPr id="4" name="Problem"/>
          <p:cNvSpPr txBox="1"/>
          <p:nvPr/>
        </p:nvSpPr>
        <p:spPr>
          <a:xfrm>
            <a:off x="420624" y="1892808"/>
            <a:ext cx="11338560" cy="1051560"/>
          </a:xfrm>
          <a:prstGeom prst="rect">
            <a:avLst/>
          </a:prstGeom>
          <a:noFill/>
          <a:ln w="0">
            <a:noFill/>
          </a:ln>
        </p:spPr>
        <p:txBody>
          <a:bodyPr wrap="square" lIns="0" tIns="0" rIns="0" bIns="0" anchor="t">
            <a:noAutofit/>
          </a:bodyPr>
          <a:lstStyle/>
          <a:p>
            <a:pPr algn="l">
              <a:buNone/>
            </a:pPr>
            <a:r>
              <a:rPr lang="en-US" sz="2200" b="1" dirty="0">
                <a:solidFill>
                  <a:srgbClr val="000000"/>
                </a:solidFill>
                <a:latin typeface="Times New Roman"/>
                <a:ea typeface="Times New Roman"/>
                <a:cs typeface="Times New Roman"/>
              </a:rPr>
              <a:t>Warehouses gain heat from equipment and sunlight. Fans on a timer or a single indoor thermostat cannot tell whether outside air is cooler, so they can pull in hotter air and raise the indoor temperature.</a:t>
            </a:r>
          </a:p>
        </p:txBody>
      </p:sp>
      <p:sp>
        <p:nvSpPr>
          <p:cNvPr id="5" name="Need Label"/>
          <p:cNvSpPr txBox="1"/>
          <p:nvPr/>
        </p:nvSpPr>
        <p:spPr>
          <a:xfrm>
            <a:off x="420624" y="3063240"/>
            <a:ext cx="11338560" cy="411480"/>
          </a:xfrm>
          <a:prstGeom prst="rect">
            <a:avLst/>
          </a:prstGeom>
          <a:noFill/>
          <a:ln w="0">
            <a:noFill/>
          </a:ln>
        </p:spPr>
        <p:txBody>
          <a:bodyPr wrap="square" lIns="0" tIns="0" rIns="0" bIns="0" anchor="t">
            <a:noAutofit/>
          </a:bodyPr>
          <a:lstStyle/>
          <a:p>
            <a:pPr algn="l">
              <a:buNone/>
            </a:pPr>
            <a:r>
              <a:rPr lang="en-US" sz="2600" b="1" dirty="0">
                <a:solidFill>
                  <a:srgbClr val="000000"/>
                </a:solidFill>
                <a:latin typeface="Times New Roman"/>
                <a:ea typeface="Times New Roman"/>
                <a:cs typeface="Times New Roman"/>
              </a:rPr>
              <a:t>Need Analysis</a:t>
            </a:r>
          </a:p>
        </p:txBody>
      </p:sp>
      <p:sp>
        <p:nvSpPr>
          <p:cNvPr id="6" name="Need"/>
          <p:cNvSpPr txBox="1"/>
          <p:nvPr/>
        </p:nvSpPr>
        <p:spPr>
          <a:xfrm>
            <a:off x="420624" y="3493008"/>
            <a:ext cx="11338560" cy="731520"/>
          </a:xfrm>
          <a:prstGeom prst="rect">
            <a:avLst/>
          </a:prstGeom>
          <a:noFill/>
          <a:ln w="0">
            <a:noFill/>
          </a:ln>
        </p:spPr>
        <p:txBody>
          <a:bodyPr wrap="square" lIns="0" tIns="0" rIns="0" bIns="0" anchor="t">
            <a:noAutofit/>
          </a:bodyPr>
          <a:lstStyle/>
          <a:p>
            <a:pPr algn="l">
              <a:buNone/>
            </a:pPr>
            <a:r>
              <a:rPr lang="en-US" sz="2200" b="1" dirty="0">
                <a:solidFill>
                  <a:srgbClr val="000000"/>
                </a:solidFill>
                <a:latin typeface="Times New Roman"/>
                <a:ea typeface="Times New Roman"/>
                <a:cs typeface="Times New Roman"/>
              </a:rPr>
              <a:t>An automated system that compares indoor and outdoor temperature, runs the fans only when outside air will help, limits manual checks, and alerts the user to a sensor fault.</a:t>
            </a:r>
          </a:p>
        </p:txBody>
      </p:sp>
      <p:sp>
        <p:nvSpPr>
          <p:cNvPr id="7" name="Goal Label"/>
          <p:cNvSpPr txBox="1"/>
          <p:nvPr/>
        </p:nvSpPr>
        <p:spPr>
          <a:xfrm>
            <a:off x="420624" y="4389120"/>
            <a:ext cx="11338560" cy="411480"/>
          </a:xfrm>
          <a:prstGeom prst="rect">
            <a:avLst/>
          </a:prstGeom>
          <a:noFill/>
          <a:ln w="0">
            <a:noFill/>
          </a:ln>
        </p:spPr>
        <p:txBody>
          <a:bodyPr wrap="square" lIns="0" tIns="0" rIns="0" bIns="0" anchor="t">
            <a:noAutofit/>
          </a:bodyPr>
          <a:lstStyle/>
          <a:p>
            <a:pPr algn="l">
              <a:buNone/>
            </a:pPr>
            <a:r>
              <a:rPr lang="en-US" sz="2600" b="1" dirty="0">
                <a:solidFill>
                  <a:srgbClr val="000000"/>
                </a:solidFill>
                <a:latin typeface="Times New Roman"/>
                <a:ea typeface="Times New Roman"/>
                <a:cs typeface="Times New Roman"/>
              </a:rPr>
              <a:t>Design Goal</a:t>
            </a:r>
          </a:p>
        </p:txBody>
      </p:sp>
      <p:sp>
        <p:nvSpPr>
          <p:cNvPr id="8" name="Goal"/>
          <p:cNvSpPr txBox="1"/>
          <p:nvPr/>
        </p:nvSpPr>
        <p:spPr>
          <a:xfrm>
            <a:off x="420624" y="4818888"/>
            <a:ext cx="11338560" cy="777240"/>
          </a:xfrm>
          <a:prstGeom prst="rect">
            <a:avLst/>
          </a:prstGeom>
          <a:noFill/>
          <a:ln w="0">
            <a:noFill/>
          </a:ln>
        </p:spPr>
        <p:txBody>
          <a:bodyPr wrap="square" lIns="0" tIns="0" rIns="0" bIns="0" anchor="t">
            <a:noAutofit/>
          </a:bodyPr>
          <a:lstStyle/>
          <a:p>
            <a:pPr algn="l">
              <a:buNone/>
            </a:pPr>
            <a:r>
              <a:rPr lang="en-US" sz="2200" b="1" dirty="0">
                <a:solidFill>
                  <a:srgbClr val="000000"/>
                </a:solidFill>
                <a:latin typeface="Times New Roman"/>
                <a:ea typeface="Times New Roman"/>
                <a:cs typeface="Times New Roman"/>
              </a:rPr>
              <a:t>Design and prototype a dual-fan ventilation controller that removes heat by air exchange when conditions allow, and shows live readings and operating status.</a:t>
            </a:r>
          </a:p>
        </p:txBody>
      </p:sp>
      <p:sp>
        <p:nvSpPr>
          <p:cNvPr id="9" name="Slide Number"/>
          <p:cNvSpPr txBox="1"/>
          <p:nvPr/>
        </p:nvSpPr>
        <p:spPr>
          <a:xfrm>
            <a:off x="11521440" y="6528816"/>
            <a:ext cx="283464" cy="192024"/>
          </a:xfrm>
          <a:prstGeom prst="rect">
            <a:avLst/>
          </a:prstGeom>
          <a:noFill/>
          <a:ln w="0">
            <a:noFill/>
          </a:ln>
        </p:spPr>
        <p:txBody>
          <a:bodyPr wrap="square" lIns="0" tIns="0" rIns="0" bIns="0" anchor="t">
            <a:noAutofit/>
          </a:bodyPr>
          <a:lstStyle/>
          <a:p>
            <a:pPr algn="r">
              <a:buNone/>
            </a:pPr>
            <a:r>
              <a:rPr lang="en-US" sz="975" b="0" dirty="0">
                <a:solidFill>
                  <a:srgbClr val="000000"/>
                </a:solidFill>
                <a:latin typeface="Times New Roman"/>
                <a:ea typeface="Times New Roman"/>
                <a:cs typeface="Times New Roman"/>
              </a:rPr>
              <a:t>3</a:t>
            </a:r>
          </a:p>
        </p:txBody>
      </p:sp>
    </p:spTree>
    <p:extLst>
      <p:ext uri="{BB962C8B-B14F-4D97-AF65-F5344CB8AC3E}">
        <p14:creationId xmlns:p14="http://schemas.microsoft.com/office/powerpoint/2010/main" val="302780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20624" y="283464"/>
            <a:ext cx="11356848" cy="950976"/>
          </a:xfrm>
          <a:prstGeom prst="rect">
            <a:avLst/>
          </a:prstGeom>
          <a:noFill/>
          <a:ln w="0">
            <a:noFill/>
          </a:ln>
        </p:spPr>
        <p:txBody>
          <a:bodyPr wrap="square" lIns="0" tIns="0" rIns="0" bIns="0" anchor="t">
            <a:noAutofit/>
          </a:bodyPr>
          <a:lstStyle/>
          <a:p>
            <a:pPr algn="l">
              <a:buNone/>
            </a:pPr>
            <a:r>
              <a:rPr lang="en-US" sz="5100" b="1" dirty="0">
                <a:solidFill>
                  <a:srgbClr val="000000"/>
                </a:solidFill>
                <a:latin typeface="Times New Roman"/>
                <a:ea typeface="Times New Roman"/>
                <a:cs typeface="Times New Roman"/>
              </a:rPr>
              <a:t>Objectives and Constraints</a:t>
            </a:r>
          </a:p>
        </p:txBody>
      </p:sp>
      <p:sp>
        <p:nvSpPr>
          <p:cNvPr id="3" name="Objectives Label"/>
          <p:cNvSpPr txBox="1"/>
          <p:nvPr/>
        </p:nvSpPr>
        <p:spPr>
          <a:xfrm>
            <a:off x="420624" y="1371600"/>
            <a:ext cx="11338560" cy="411480"/>
          </a:xfrm>
          <a:prstGeom prst="rect">
            <a:avLst/>
          </a:prstGeom>
          <a:noFill/>
          <a:ln w="0">
            <a:noFill/>
          </a:ln>
        </p:spPr>
        <p:txBody>
          <a:bodyPr wrap="square" lIns="0" tIns="0" rIns="0" bIns="0" anchor="t">
            <a:noAutofit/>
          </a:bodyPr>
          <a:lstStyle/>
          <a:p>
            <a:pPr algn="l">
              <a:buNone/>
            </a:pPr>
            <a:r>
              <a:rPr lang="en-US" sz="2600" b="1" dirty="0">
                <a:solidFill>
                  <a:srgbClr val="000000"/>
                </a:solidFill>
                <a:latin typeface="Times New Roman"/>
                <a:ea typeface="Times New Roman"/>
                <a:cs typeface="Times New Roman"/>
              </a:rPr>
              <a:t>Objectives</a:t>
            </a:r>
          </a:p>
        </p:txBody>
      </p:sp>
      <p:sp>
        <p:nvSpPr>
          <p:cNvPr id="4" name="Objective 1"/>
          <p:cNvSpPr txBox="1"/>
          <p:nvPr/>
        </p:nvSpPr>
        <p:spPr>
          <a:xfrm>
            <a:off x="420624" y="1874520"/>
            <a:ext cx="3520440" cy="365760"/>
          </a:xfrm>
          <a:prstGeom prst="rect">
            <a:avLst/>
          </a:prstGeom>
          <a:noFill/>
          <a:ln w="0">
            <a:noFill/>
          </a:ln>
        </p:spPr>
        <p:txBody>
          <a:bodyPr wrap="square" lIns="0" tIns="0" rIns="0" bIns="0" anchor="t">
            <a:noAutofit/>
          </a:bodyPr>
          <a:lstStyle/>
          <a:p>
            <a:pPr algn="l">
              <a:buNone/>
            </a:pPr>
            <a:r>
              <a:rPr lang="en-US" sz="2200" b="1" dirty="0">
                <a:solidFill>
                  <a:srgbClr val="000000"/>
                </a:solidFill>
                <a:latin typeface="Times New Roman"/>
                <a:ea typeface="Times New Roman"/>
                <a:cs typeface="Times New Roman"/>
              </a:rPr>
              <a:t>Monitor Temperature</a:t>
            </a:r>
          </a:p>
        </p:txBody>
      </p:sp>
      <p:sp>
        <p:nvSpPr>
          <p:cNvPr id="5" name="Objective 1 Text"/>
          <p:cNvSpPr txBox="1"/>
          <p:nvPr/>
        </p:nvSpPr>
        <p:spPr>
          <a:xfrm>
            <a:off x="420624" y="2286000"/>
            <a:ext cx="3520440" cy="731520"/>
          </a:xfrm>
          <a:prstGeom prst="rect">
            <a:avLst/>
          </a:prstGeom>
          <a:noFill/>
          <a:ln w="0">
            <a:noFill/>
          </a:ln>
        </p:spPr>
        <p:txBody>
          <a:bodyPr wrap="square" lIns="0" tIns="0" rIns="0" bIns="0" anchor="t">
            <a:noAutofit/>
          </a:bodyPr>
          <a:lstStyle/>
          <a:p>
            <a:pPr algn="l">
              <a:buNone/>
            </a:pPr>
            <a:r>
              <a:rPr lang="en-US" sz="2000" b="1" dirty="0">
                <a:solidFill>
                  <a:srgbClr val="000000"/>
                </a:solidFill>
                <a:latin typeface="Times New Roman"/>
                <a:ea typeface="Times New Roman"/>
                <a:cs typeface="Times New Roman"/>
              </a:rPr>
              <a:t>Two probes compare inside and outside air.</a:t>
            </a:r>
          </a:p>
        </p:txBody>
      </p:sp>
      <p:sp>
        <p:nvSpPr>
          <p:cNvPr id="6" name="Objective 2"/>
          <p:cNvSpPr txBox="1"/>
          <p:nvPr/>
        </p:nvSpPr>
        <p:spPr>
          <a:xfrm>
            <a:off x="4306824" y="1874520"/>
            <a:ext cx="3520440" cy="365760"/>
          </a:xfrm>
          <a:prstGeom prst="rect">
            <a:avLst/>
          </a:prstGeom>
          <a:noFill/>
          <a:ln w="0">
            <a:noFill/>
          </a:ln>
        </p:spPr>
        <p:txBody>
          <a:bodyPr wrap="square" lIns="0" tIns="0" rIns="0" bIns="0" anchor="t">
            <a:noAutofit/>
          </a:bodyPr>
          <a:lstStyle/>
          <a:p>
            <a:pPr algn="l">
              <a:buNone/>
            </a:pPr>
            <a:r>
              <a:rPr lang="en-US" sz="2200" b="1" dirty="0">
                <a:solidFill>
                  <a:srgbClr val="000000"/>
                </a:solidFill>
                <a:latin typeface="Times New Roman"/>
                <a:ea typeface="Times New Roman"/>
                <a:cs typeface="Times New Roman"/>
              </a:rPr>
              <a:t>Automate Ventilation</a:t>
            </a:r>
          </a:p>
        </p:txBody>
      </p:sp>
      <p:sp>
        <p:nvSpPr>
          <p:cNvPr id="7" name="Objective 2 Text"/>
          <p:cNvSpPr txBox="1"/>
          <p:nvPr/>
        </p:nvSpPr>
        <p:spPr>
          <a:xfrm>
            <a:off x="4306824" y="2286000"/>
            <a:ext cx="3520440" cy="731520"/>
          </a:xfrm>
          <a:prstGeom prst="rect">
            <a:avLst/>
          </a:prstGeom>
          <a:noFill/>
          <a:ln w="0">
            <a:noFill/>
          </a:ln>
        </p:spPr>
        <p:txBody>
          <a:bodyPr wrap="square" lIns="0" tIns="0" rIns="0" bIns="0" anchor="t">
            <a:noAutofit/>
          </a:bodyPr>
          <a:lstStyle/>
          <a:p>
            <a:pPr algn="l">
              <a:buNone/>
            </a:pPr>
            <a:r>
              <a:rPr lang="en-US" sz="2000" b="1" dirty="0">
                <a:solidFill>
                  <a:srgbClr val="000000"/>
                </a:solidFill>
                <a:latin typeface="Times New Roman"/>
                <a:ea typeface="Times New Roman"/>
                <a:cs typeface="Times New Roman"/>
              </a:rPr>
              <a:t>Pick the fan state automatically, without chatter.</a:t>
            </a:r>
          </a:p>
        </p:txBody>
      </p:sp>
      <p:sp>
        <p:nvSpPr>
          <p:cNvPr id="8" name="Objective 3"/>
          <p:cNvSpPr txBox="1"/>
          <p:nvPr/>
        </p:nvSpPr>
        <p:spPr>
          <a:xfrm>
            <a:off x="8193024" y="1874520"/>
            <a:ext cx="3520440" cy="365760"/>
          </a:xfrm>
          <a:prstGeom prst="rect">
            <a:avLst/>
          </a:prstGeom>
          <a:noFill/>
          <a:ln w="0">
            <a:noFill/>
          </a:ln>
        </p:spPr>
        <p:txBody>
          <a:bodyPr wrap="square" lIns="0" tIns="0" rIns="0" bIns="0" anchor="t">
            <a:noAutofit/>
          </a:bodyPr>
          <a:lstStyle/>
          <a:p>
            <a:pPr algn="l">
              <a:buNone/>
            </a:pPr>
            <a:r>
              <a:rPr lang="en-US" sz="2200" b="1" dirty="0">
                <a:solidFill>
                  <a:srgbClr val="000000"/>
                </a:solidFill>
                <a:latin typeface="Times New Roman"/>
                <a:ea typeface="Times New Roman"/>
                <a:cs typeface="Times New Roman"/>
              </a:rPr>
              <a:t>Display and Alert</a:t>
            </a:r>
          </a:p>
        </p:txBody>
      </p:sp>
      <p:sp>
        <p:nvSpPr>
          <p:cNvPr id="9" name="Objective 3 Text"/>
          <p:cNvSpPr txBox="1"/>
          <p:nvPr/>
        </p:nvSpPr>
        <p:spPr>
          <a:xfrm>
            <a:off x="8193024" y="2286000"/>
            <a:ext cx="3520440" cy="731520"/>
          </a:xfrm>
          <a:prstGeom prst="rect">
            <a:avLst/>
          </a:prstGeom>
          <a:noFill/>
          <a:ln w="0">
            <a:noFill/>
          </a:ln>
        </p:spPr>
        <p:txBody>
          <a:bodyPr wrap="square" lIns="0" tIns="0" rIns="0" bIns="0" anchor="t">
            <a:noAutofit/>
          </a:bodyPr>
          <a:lstStyle/>
          <a:p>
            <a:pPr algn="l">
              <a:buNone/>
            </a:pPr>
            <a:r>
              <a:rPr lang="en-US" sz="2000" b="1" dirty="0">
                <a:solidFill>
                  <a:srgbClr val="000000"/>
                </a:solidFill>
                <a:latin typeface="Times New Roman"/>
                <a:ea typeface="Times New Roman"/>
                <a:cs typeface="Times New Roman"/>
              </a:rPr>
              <a:t>Three OLEDs show live values; the buzzer alerts.</a:t>
            </a:r>
          </a:p>
        </p:txBody>
      </p:sp>
      <p:sp>
        <p:nvSpPr>
          <p:cNvPr id="10" name="Constraints Label"/>
          <p:cNvSpPr txBox="1"/>
          <p:nvPr/>
        </p:nvSpPr>
        <p:spPr>
          <a:xfrm>
            <a:off x="420624" y="3246120"/>
            <a:ext cx="11338560" cy="411480"/>
          </a:xfrm>
          <a:prstGeom prst="rect">
            <a:avLst/>
          </a:prstGeom>
          <a:noFill/>
          <a:ln w="0">
            <a:noFill/>
          </a:ln>
        </p:spPr>
        <p:txBody>
          <a:bodyPr wrap="square" lIns="0" tIns="0" rIns="0" bIns="0" anchor="t">
            <a:noAutofit/>
          </a:bodyPr>
          <a:lstStyle/>
          <a:p>
            <a:pPr algn="l">
              <a:buNone/>
            </a:pPr>
            <a:r>
              <a:rPr lang="en-US" sz="2600" b="1" dirty="0">
                <a:solidFill>
                  <a:srgbClr val="000000"/>
                </a:solidFill>
                <a:latin typeface="Times New Roman"/>
                <a:ea typeface="Times New Roman"/>
                <a:cs typeface="Times New Roman"/>
              </a:rPr>
              <a:t>Constraints</a:t>
            </a:r>
          </a:p>
        </p:txBody>
      </p:sp>
      <p:sp>
        <p:nvSpPr>
          <p:cNvPr id="11" name="Constraints"/>
          <p:cNvSpPr txBox="1"/>
          <p:nvPr/>
        </p:nvSpPr>
        <p:spPr>
          <a:xfrm>
            <a:off x="685800" y="3749040"/>
            <a:ext cx="10789920" cy="2377440"/>
          </a:xfrm>
          <a:prstGeom prst="rect">
            <a:avLst/>
          </a:prstGeom>
          <a:noFill/>
          <a:ln w="0">
            <a:noFill/>
          </a:ln>
        </p:spPr>
        <p:txBody>
          <a:bodyPr wrap="square" lIns="0" tIns="0" rIns="0" bIns="0" anchor="t">
            <a:noAutofit/>
          </a:bodyPr>
          <a:lstStyle/>
          <a:p>
            <a:pPr algn="l" marL="342900" indent="-342900">
              <a:spcAft>
                <a:spcPts val="600"/>
              </a:spcAft>
              <a:buFont typeface="Arial"/>
              <a:buChar char="•"/>
            </a:pPr>
            <a:r>
              <a:rPr lang="en-US" sz="2000" b="1" dirty="0">
                <a:solidFill>
                  <a:srgbClr val="000000"/>
                </a:solidFill>
                <a:latin typeface="Times New Roman"/>
                <a:ea typeface="Times New Roman"/>
                <a:cs typeface="Times New Roman"/>
              </a:rPr>
              <a:t>3.3 V logic, with a separate 5 V fan supply</a:t>
            </a:r>
          </a:p>
          <a:p>
            <a:pPr algn="l" marL="342900" indent="-342900">
              <a:spcAft>
                <a:spcPts val="600"/>
              </a:spcAft>
              <a:buFont typeface="Arial"/>
              <a:buChar char="•"/>
            </a:pPr>
            <a:r>
              <a:rPr lang="en-US" sz="2000" b="1" dirty="0">
                <a:solidFill>
                  <a:srgbClr val="000000"/>
                </a:solidFill>
                <a:latin typeface="Times New Roman"/>
                <a:ea typeface="Times New Roman"/>
                <a:cs typeface="Times New Roman"/>
              </a:rPr>
              <a:t>ESP32, driver and fan supply share a common ground</a:t>
            </a:r>
          </a:p>
          <a:p>
            <a:pPr algn="l" marL="342900" indent="-342900">
              <a:spcAft>
                <a:spcPts val="600"/>
              </a:spcAft>
              <a:buFont typeface="Arial"/>
              <a:buChar char="•"/>
            </a:pPr>
            <a:r>
              <a:rPr lang="en-US" sz="2000" b="1" dirty="0">
                <a:solidFill>
                  <a:srgbClr val="000000"/>
                </a:solidFill>
                <a:latin typeface="Times New Roman"/>
                <a:ea typeface="Times New Roman"/>
                <a:cs typeface="Times New Roman"/>
              </a:rPr>
              <a:t>Firmware stays non-blocking during sensor conversions</a:t>
            </a:r>
          </a:p>
          <a:p>
            <a:pPr algn="l" marL="342900" indent="-342900">
              <a:spcAft>
                <a:spcPts val="600"/>
              </a:spcAft>
              <a:buFont typeface="Arial"/>
              <a:buChar char="•"/>
            </a:pPr>
            <a:r>
              <a:rPr lang="en-US" sz="2000" b="1" dirty="0">
                <a:solidFill>
                  <a:srgbClr val="000000"/>
                </a:solidFill>
                <a:latin typeface="Times New Roman"/>
                <a:ea typeface="Times New Roman"/>
                <a:cs typeface="Times New Roman"/>
              </a:rPr>
              <a:t>Outside probe kept clear of the exhaust plume</a:t>
            </a:r>
          </a:p>
          <a:p>
            <a:pPr algn="l" marL="342900" indent="-342900">
              <a:spcAft>
                <a:spcPts val="600"/>
              </a:spcAft>
              <a:buFont typeface="Arial"/>
              <a:buChar char="•"/>
            </a:pPr>
            <a:r>
              <a:rPr lang="en-US" sz="2000" b="1" dirty="0">
                <a:solidFill>
                  <a:srgbClr val="000000"/>
                </a:solidFill>
                <a:latin typeface="Times New Roman"/>
                <a:ea typeface="Times New Roman"/>
                <a:cs typeface="Times New Roman"/>
              </a:rPr>
              <a:t>No refrigeration, so it cannot cool below outside air</a:t>
            </a:r>
          </a:p>
        </p:txBody>
      </p:sp>
      <p:sp>
        <p:nvSpPr>
          <p:cNvPr id="12" name="Slide Number"/>
          <p:cNvSpPr txBox="1"/>
          <p:nvPr/>
        </p:nvSpPr>
        <p:spPr>
          <a:xfrm>
            <a:off x="11521440" y="6528816"/>
            <a:ext cx="283464" cy="192024"/>
          </a:xfrm>
          <a:prstGeom prst="rect">
            <a:avLst/>
          </a:prstGeom>
          <a:noFill/>
          <a:ln w="0">
            <a:noFill/>
          </a:ln>
        </p:spPr>
        <p:txBody>
          <a:bodyPr wrap="square" lIns="0" tIns="0" rIns="0" bIns="0" anchor="t">
            <a:noAutofit/>
          </a:bodyPr>
          <a:lstStyle/>
          <a:p>
            <a:pPr algn="r">
              <a:buNone/>
            </a:pPr>
            <a:r>
              <a:rPr lang="en-US" sz="975" b="0" dirty="0">
                <a:solidFill>
                  <a:srgbClr val="000000"/>
                </a:solidFill>
                <a:latin typeface="Times New Roman"/>
                <a:ea typeface="Times New Roman"/>
                <a:cs typeface="Times New Roman"/>
              </a:rPr>
              <a:t>4</a:t>
            </a:r>
          </a:p>
        </p:txBody>
      </p:sp>
    </p:spTree>
    <p:extLst>
      <p:ext uri="{BB962C8B-B14F-4D97-AF65-F5344CB8AC3E}">
        <p14:creationId xmlns:p14="http://schemas.microsoft.com/office/powerpoint/2010/main" val="901972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A9C8134-9FED-4ED8-8641-0387EAA70CB4}"/>
              </a:ext>
            </a:extLst>
          </p:cNvPr>
          <p:cNvSpPr>
            <a:spLocks noGrp="1"/>
          </p:cNvSpPr>
          <p:nvPr/>
        </p:nvSpPr>
        <p:spPr>
          <a:xfrm>
            <a:off x="419100" y="285750"/>
            <a:ext cx="11353800" cy="952500"/>
          </a:xfrm>
          <a:prstGeom prst="rect">
            <a:avLst/>
          </a:prstGeom>
          <a:noFill/>
          <a:ln w="0">
            <a:noFill/>
          </a:ln>
        </p:spPr>
        <p:txBody>
          <a:bodyPr lIns="0" tIns="0" rIns="0" bIns="0">
            <a:noAutofit/>
          </a:bodyPr>
          <a:lstStyle/>
          <a:p>
            <a:pPr algn="l">
              <a:defRPr sz="5100" b="1">
                <a:solidFill>
                  <a:srgbClr val="000000"/>
                </a:solidFill>
                <a:latin typeface="Times New Roman"/>
                <a:ea typeface="Times New Roman"/>
                <a:cs typeface="Times New Roman"/>
              </a:defRPr>
            </a:pPr>
            <a:r>
              <a:rPr sz="5100" b="1">
                <a:solidFill>
                  <a:srgbClr val="000000"/>
                </a:solidFill>
                <a:latin typeface="Times New Roman"/>
                <a:ea typeface="Times New Roman"/>
                <a:cs typeface="Times New Roman"/>
              </a:rPr>
              <a:t>Design Specifications</a:t>
            </a:r>
          </a:p>
        </p:txBody>
      </p:sp>
      <p:sp>
        <p:nvSpPr>
          <p:cNvPr id="2" name="Rectangle 1">
            <a:extLst>
              <a:ext uri="{FF2B5EF4-FFF2-40B4-BE49-F238E27FC236}">
                <a16:creationId xmlns:a16="http://schemas.microsoft.com/office/drawing/2014/main" id="{ABD7B76D-021B-429B-ABF1-A140481C20AA}"/>
              </a:ext>
            </a:extLst>
          </p:cNvPr>
          <p:cNvSpPr>
            <a:spLocks noGrp="1"/>
          </p:cNvSpPr>
          <p:nvPr/>
        </p:nvSpPr>
        <p:spPr>
          <a:xfrm>
            <a:off x="11525250" y="6524625"/>
            <a:ext cx="285750" cy="190500"/>
          </a:xfrm>
          <a:prstGeom prst="rect">
            <a:avLst/>
          </a:prstGeom>
          <a:noFill/>
          <a:ln w="0">
            <a:noFill/>
          </a:ln>
        </p:spPr>
        <p:txBody>
          <a:bodyPr lIns="0" tIns="0" rIns="0" bIns="0">
            <a:noAutofit/>
          </a:bodyPr>
          <a:lstStyle/>
          <a:p>
            <a:pPr algn="r">
              <a:defRPr sz="975" b="0">
                <a:solidFill>
                  <a:srgbClr val="000000"/>
                </a:solidFill>
                <a:latin typeface="Times New Roman"/>
                <a:ea typeface="Times New Roman"/>
                <a:cs typeface="Times New Roman"/>
              </a:defRPr>
            </a:pPr>
            <a:r>
              <a:rPr sz="975" b="0">
                <a:solidFill>
                  <a:srgbClr val="000000"/>
                </a:solidFill>
                <a:latin typeface="Times New Roman"/>
                <a:ea typeface="Times New Roman"/>
                <a:cs typeface="Times New Roman"/>
              </a:rPr>
              <a:t>5</a:t>
            </a:r>
          </a:p>
        </p:txBody>
      </p:sp>
      <p:sp>
        <p:nvSpPr>
          <p:cNvPr id="3" name="Rectangle 2">
            <a:extLst>
              <a:ext uri="{FF2B5EF4-FFF2-40B4-BE49-F238E27FC236}">
                <a16:creationId xmlns:a16="http://schemas.microsoft.com/office/drawing/2014/main" id="{D351E201-F541-44DC-9227-71B28F51B716}"/>
              </a:ext>
            </a:extLst>
          </p:cNvPr>
          <p:cNvSpPr>
            <a:spLocks noGrp="1"/>
          </p:cNvSpPr>
          <p:nvPr/>
        </p:nvSpPr>
        <p:spPr>
          <a:xfrm>
            <a:off x="420624" y="1627632"/>
            <a:ext cx="11338560" cy="722376"/>
          </a:xfrm>
          <a:prstGeom prst="rect">
            <a:avLst/>
          </a:prstGeom>
          <a:noFill/>
          <a:ln w="0">
            <a:noFill/>
          </a:ln>
        </p:spPr>
        <p:txBody>
          <a:bodyPr lIns="0" tIns="0" rIns="0" bIns="0">
            <a:noAutofit/>
          </a:bodyPr>
          <a:lstStyle/>
          <a:p>
            <a:pPr algn="l">
              <a:defRPr sz="2025" b="1">
                <a:solidFill>
                  <a:srgbClr val="000000"/>
                </a:solidFill>
                <a:latin typeface="Times New Roman"/>
                <a:ea typeface="Times New Roman"/>
                <a:cs typeface="Times New Roman"/>
              </a:defRPr>
            </a:pPr>
            <a:r>
              <a:rPr sz="2025" b="1">
                <a:solidFill>
                  <a:srgbClr val="000000"/>
                </a:solidFill>
                <a:latin typeface="Times New Roman"/>
                <a:ea typeface="Times New Roman"/>
                <a:cs typeface="Times New Roman"/>
              </a:rPr>
              <a:t>1.  The system shall measure inside and outside temperature independently.</a:t>
            </a:r>
          </a:p>
        </p:txBody>
      </p:sp>
      <p:sp>
        <p:nvSpPr>
          <p:cNvPr id="4" name="Rectangle 3">
            <a:extLst>
              <a:ext uri="{FF2B5EF4-FFF2-40B4-BE49-F238E27FC236}">
                <a16:creationId xmlns:a16="http://schemas.microsoft.com/office/drawing/2014/main" id="{5B35C09C-BA68-4E85-B318-F26D6E7982C0}"/>
              </a:ext>
            </a:extLst>
          </p:cNvPr>
          <p:cNvSpPr>
            <a:spLocks noGrp="1"/>
          </p:cNvSpPr>
          <p:nvPr/>
        </p:nvSpPr>
        <p:spPr>
          <a:xfrm>
            <a:off x="420624" y="2359152"/>
            <a:ext cx="11338560" cy="722376"/>
          </a:xfrm>
          <a:prstGeom prst="rect">
            <a:avLst/>
          </a:prstGeom>
          <a:noFill/>
          <a:ln w="0">
            <a:noFill/>
          </a:ln>
        </p:spPr>
        <p:txBody>
          <a:bodyPr lIns="0" tIns="0" rIns="0" bIns="0">
            <a:noAutofit/>
          </a:bodyPr>
          <a:lstStyle/>
          <a:p>
            <a:pPr algn="l">
              <a:defRPr sz="2025" b="1">
                <a:solidFill>
                  <a:srgbClr val="000000"/>
                </a:solidFill>
                <a:latin typeface="Times New Roman"/>
                <a:ea typeface="Times New Roman"/>
                <a:cs typeface="Times New Roman"/>
              </a:defRPr>
            </a:pPr>
            <a:r>
              <a:rPr sz="2025" b="1">
                <a:solidFill>
                  <a:srgbClr val="000000"/>
                </a:solidFill>
                <a:latin typeface="Times New Roman"/>
                <a:ea typeface="Times New Roman"/>
                <a:cs typeface="Times New Roman"/>
              </a:rPr>
              <a:t>2.  The system shall activate heat demand at 80 °F and release it at 77 °F.</a:t>
            </a:r>
          </a:p>
        </p:txBody>
      </p:sp>
      <p:sp>
        <p:nvSpPr>
          <p:cNvPr id="5" name="Rectangle 4">
            <a:extLst>
              <a:ext uri="{FF2B5EF4-FFF2-40B4-BE49-F238E27FC236}">
                <a16:creationId xmlns:a16="http://schemas.microsoft.com/office/drawing/2014/main" id="{18CE4CE9-8E4E-4A4B-8EAB-EC824F52DDB6}"/>
              </a:ext>
            </a:extLst>
          </p:cNvPr>
          <p:cNvSpPr>
            <a:spLocks noGrp="1"/>
          </p:cNvSpPr>
          <p:nvPr/>
        </p:nvSpPr>
        <p:spPr>
          <a:xfrm>
            <a:off x="420624" y="3090672"/>
            <a:ext cx="11338560" cy="722376"/>
          </a:xfrm>
          <a:prstGeom prst="rect">
            <a:avLst/>
          </a:prstGeom>
          <a:noFill/>
          <a:ln w="0">
            <a:noFill/>
          </a:ln>
        </p:spPr>
        <p:txBody>
          <a:bodyPr lIns="0" tIns="0" rIns="0" bIns="0">
            <a:noAutofit/>
          </a:bodyPr>
          <a:lstStyle/>
          <a:p>
            <a:pPr algn="l">
              <a:defRPr sz="2025" b="1">
                <a:solidFill>
                  <a:srgbClr val="000000"/>
                </a:solidFill>
                <a:latin typeface="Times New Roman"/>
                <a:ea typeface="Times New Roman"/>
                <a:cs typeface="Times New Roman"/>
              </a:defRPr>
            </a:pPr>
            <a:r>
              <a:rPr sz="2025" b="1">
                <a:solidFill>
                  <a:srgbClr val="000000"/>
                </a:solidFill>
                <a:latin typeface="Times New Roman"/>
                <a:ea typeface="Times New Roman"/>
                <a:cs typeface="Times New Roman"/>
              </a:rPr>
              <a:t>3.  Cross ventilation shall enter when outside air is at least 2 °F cooler,</a:t>
            </a:r>
          </a:p>
          <a:p>
            <a:pPr algn="l">
              <a:defRPr sz="2025" b="1">
                <a:solidFill>
                  <a:srgbClr val="000000"/>
                </a:solidFill>
                <a:latin typeface="Times New Roman"/>
                <a:ea typeface="Times New Roman"/>
                <a:cs typeface="Times New Roman"/>
              </a:defRPr>
            </a:pPr>
            <a:r>
              <a:rPr sz="2025" b="1">
                <a:solidFill>
                  <a:srgbClr val="000000"/>
                </a:solidFill>
                <a:latin typeface="Times New Roman"/>
                <a:ea typeface="Times New Roman"/>
                <a:cs typeface="Times New Roman"/>
              </a:rPr>
              <a:t>     with an exit deadband of 1 °F.</a:t>
            </a:r>
          </a:p>
        </p:txBody>
      </p:sp>
      <p:sp>
        <p:nvSpPr>
          <p:cNvPr id="6" name="Rectangle 5">
            <a:extLst>
              <a:ext uri="{FF2B5EF4-FFF2-40B4-BE49-F238E27FC236}">
                <a16:creationId xmlns:a16="http://schemas.microsoft.com/office/drawing/2014/main" id="{25B5E819-700F-41BB-AB81-9C90D48E911E}"/>
              </a:ext>
            </a:extLst>
          </p:cNvPr>
          <p:cNvSpPr>
            <a:spLocks noGrp="1"/>
          </p:cNvSpPr>
          <p:nvPr/>
        </p:nvSpPr>
        <p:spPr>
          <a:xfrm>
            <a:off x="420624" y="3822192"/>
            <a:ext cx="11338560" cy="722376"/>
          </a:xfrm>
          <a:prstGeom prst="rect">
            <a:avLst/>
          </a:prstGeom>
          <a:noFill/>
          <a:ln w="0">
            <a:noFill/>
          </a:ln>
        </p:spPr>
        <p:txBody>
          <a:bodyPr lIns="0" tIns="0" rIns="0" bIns="0">
            <a:noAutofit/>
          </a:bodyPr>
          <a:lstStyle/>
          <a:p>
            <a:pPr algn="l">
              <a:defRPr sz="2025" b="1">
                <a:solidFill>
                  <a:srgbClr val="000000"/>
                </a:solidFill>
                <a:latin typeface="Times New Roman"/>
                <a:ea typeface="Times New Roman"/>
                <a:cs typeface="Times New Roman"/>
              </a:defRPr>
            </a:pPr>
            <a:r>
              <a:rPr sz="2025" b="1">
                <a:solidFill>
                  <a:srgbClr val="000000"/>
                </a:solidFill>
                <a:latin typeface="Times New Roman"/>
                <a:ea typeface="Times New Roman"/>
                <a:cs typeface="Times New Roman"/>
              </a:rPr>
              <a:t>4.  Normal state transitions shall use a minimum dwell time of 10 seconds.</a:t>
            </a:r>
          </a:p>
        </p:txBody>
      </p:sp>
      <p:sp>
        <p:nvSpPr>
          <p:cNvPr id="7" name="Rectangle 6">
            <a:extLst>
              <a:ext uri="{FF2B5EF4-FFF2-40B4-BE49-F238E27FC236}">
                <a16:creationId xmlns:a16="http://schemas.microsoft.com/office/drawing/2014/main" id="{97841F8B-7C3A-4559-8F10-5C8FDB9304CB}"/>
              </a:ext>
            </a:extLst>
          </p:cNvPr>
          <p:cNvSpPr>
            <a:spLocks noGrp="1"/>
          </p:cNvSpPr>
          <p:nvPr/>
        </p:nvSpPr>
        <p:spPr>
          <a:xfrm>
            <a:off x="420624" y="4553712"/>
            <a:ext cx="11338560" cy="722376"/>
          </a:xfrm>
          <a:prstGeom prst="rect">
            <a:avLst/>
          </a:prstGeom>
          <a:noFill/>
          <a:ln w="0">
            <a:noFill/>
          </a:ln>
        </p:spPr>
        <p:txBody>
          <a:bodyPr lIns="0" tIns="0" rIns="0" bIns="0">
            <a:noAutofit/>
          </a:bodyPr>
          <a:lstStyle/>
          <a:p>
            <a:pPr algn="l">
              <a:defRPr sz="2025" b="1">
                <a:solidFill>
                  <a:srgbClr val="000000"/>
                </a:solidFill>
                <a:latin typeface="Times New Roman"/>
                <a:ea typeface="Times New Roman"/>
                <a:cs typeface="Times New Roman"/>
              </a:defRPr>
            </a:pPr>
            <a:r>
              <a:rPr sz="2025" b="1">
                <a:solidFill>
                  <a:srgbClr val="000000"/>
                </a:solidFill>
                <a:latin typeface="Times New Roman"/>
                <a:ea typeface="Times New Roman"/>
                <a:cs typeface="Times New Roman"/>
              </a:rPr>
              <a:t>5.  Three consecutive invalid sensor reads shall trigger the FAULT state.</a:t>
            </a:r>
          </a:p>
        </p:txBody>
      </p:sp>
      <p:sp>
        <p:nvSpPr>
          <p:cNvPr id="8" name="Rectangle 7">
            <a:extLst>
              <a:ext uri="{FF2B5EF4-FFF2-40B4-BE49-F238E27FC236}">
                <a16:creationId xmlns:a16="http://schemas.microsoft.com/office/drawing/2014/main" id="{C217A53C-F94D-4A59-9E4F-2E7D5C339CE8}"/>
              </a:ext>
            </a:extLst>
          </p:cNvPr>
          <p:cNvSpPr>
            <a:spLocks noGrp="1"/>
          </p:cNvSpPr>
          <p:nvPr/>
        </p:nvSpPr>
        <p:spPr>
          <a:xfrm>
            <a:off x="420624" y="5285232"/>
            <a:ext cx="11338560" cy="722376"/>
          </a:xfrm>
          <a:prstGeom prst="rect">
            <a:avLst/>
          </a:prstGeom>
          <a:noFill/>
          <a:ln w="0">
            <a:noFill/>
          </a:ln>
        </p:spPr>
        <p:txBody>
          <a:bodyPr lIns="0" tIns="0" rIns="0" bIns="0">
            <a:noAutofit/>
          </a:bodyPr>
          <a:lstStyle/>
          <a:p>
            <a:pPr algn="l">
              <a:defRPr sz="2025" b="1">
                <a:solidFill>
                  <a:srgbClr val="000000"/>
                </a:solidFill>
                <a:latin typeface="Times New Roman"/>
                <a:ea typeface="Times New Roman"/>
                <a:cs typeface="Times New Roman"/>
              </a:defRPr>
            </a:pPr>
            <a:r>
              <a:rPr sz="2025" b="1">
                <a:solidFill>
                  <a:srgbClr val="000000"/>
                </a:solidFill>
                <a:latin typeface="Times New Roman"/>
                <a:ea typeface="Times New Roman"/>
                <a:cs typeface="Times New Roman"/>
              </a:rPr>
              <a:t>6.  Three OLED panels shall show inside temperature, outside temperature</a:t>
            </a:r>
          </a:p>
          <a:p>
            <a:pPr algn="l">
              <a:defRPr sz="2025" b="1">
                <a:solidFill>
                  <a:srgbClr val="000000"/>
                </a:solidFill>
                <a:latin typeface="Times New Roman"/>
                <a:ea typeface="Times New Roman"/>
                <a:cs typeface="Times New Roman"/>
              </a:defRPr>
            </a:pPr>
            <a:r>
              <a:rPr sz="2025" b="1">
                <a:solidFill>
                  <a:srgbClr val="000000"/>
                </a:solidFill>
                <a:latin typeface="Times New Roman"/>
                <a:ea typeface="Times New Roman"/>
                <a:cs typeface="Times New Roman"/>
              </a:rPr>
              <a:t>     and system state.</a:t>
            </a:r>
          </a:p>
        </p:txBody>
      </p:sp>
      <p:sp>
        <p:nvSpPr>
          <p:cNvPr id="40" name="Basis"/>
          <p:cNvSpPr txBox="1"/>
          <p:nvPr/>
        </p:nvSpPr>
        <p:spPr>
          <a:xfrm>
            <a:off x="420624" y="6108192"/>
            <a:ext cx="11338560" cy="329184"/>
          </a:xfrm>
          <a:prstGeom prst="rect">
            <a:avLst/>
          </a:prstGeom>
          <a:noFill/>
          <a:ln w="0">
            <a:noFill/>
          </a:ln>
        </p:spPr>
        <p:txBody>
          <a:bodyPr wrap="square" lIns="0" tIns="0" rIns="0" bIns="0" anchor="t">
            <a:noAutofit/>
          </a:bodyPr>
          <a:lstStyle/>
          <a:p>
            <a:pPr algn="l">
              <a:buNone/>
            </a:pPr>
            <a:r>
              <a:rPr lang="en-US" sz="2025" b="1" dirty="0">
                <a:solidFill>
                  <a:srgbClr val="000000"/>
                </a:solidFill>
                <a:latin typeface="Times New Roman"/>
                <a:ea typeface="Times New Roman"/>
                <a:cs typeface="Times New Roman"/>
              </a:rPr>
              <a:t>Thresholds come from sensor accuracy (±0.9 °F), so the fans don’t chatter.</a:t>
            </a:r>
          </a:p>
        </p:txBody>
      </p:sp>
    </p:spTree>
    <p:extLst>
      <p:ext uri="{BB962C8B-B14F-4D97-AF65-F5344CB8AC3E}">
        <p14:creationId xmlns:p14="http://schemas.microsoft.com/office/powerpoint/2010/main" val="5360779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92D078F-D260-4E42-92D0-37744BCFEF6B}"/>
              </a:ext>
            </a:extLst>
          </p:cNvPr>
          <p:cNvSpPr>
            <a:spLocks noGrp="1"/>
          </p:cNvSpPr>
          <p:nvPr/>
        </p:nvSpPr>
        <p:spPr>
          <a:xfrm>
            <a:off x="419100" y="285750"/>
            <a:ext cx="11353800" cy="1619250"/>
          </a:xfrm>
          <a:prstGeom prst="rect">
            <a:avLst/>
          </a:prstGeom>
          <a:noFill/>
          <a:ln w="0">
            <a:noFill/>
          </a:ln>
        </p:spPr>
        <p:txBody>
          <a:bodyPr lIns="0" tIns="0" rIns="0" bIns="0">
            <a:noAutofit/>
          </a:bodyPr>
          <a:lstStyle/>
          <a:p>
            <a:pPr algn="l">
              <a:defRPr sz="4500" b="1">
                <a:solidFill>
                  <a:srgbClr val="000000"/>
                </a:solidFill>
                <a:latin typeface="Times New Roman"/>
                <a:ea typeface="Times New Roman"/>
                <a:cs typeface="Times New Roman"/>
              </a:defRPr>
            </a:pPr>
            <a:r>
              <a:rPr sz="4500" b="1">
                <a:solidFill>
                  <a:srgbClr val="000000"/>
                </a:solidFill>
                <a:latin typeface="Times New Roman"/>
                <a:ea typeface="Times New Roman"/>
                <a:cs typeface="Times New Roman"/>
              </a:rPr>
              <a:t>Alternative Solutions</a:t>
            </a:r>
          </a:p>
          <a:p>
            <a:pPr algn="l">
              <a:defRPr sz="4500" b="1">
                <a:solidFill>
                  <a:srgbClr val="000000"/>
                </a:solidFill>
                <a:latin typeface="Times New Roman"/>
                <a:ea typeface="Times New Roman"/>
                <a:cs typeface="Times New Roman"/>
              </a:defRPr>
            </a:pPr>
            <a:r>
              <a:rPr sz="4500" b="1">
                <a:solidFill>
                  <a:srgbClr val="000000"/>
                </a:solidFill>
                <a:latin typeface="Times New Roman"/>
                <a:ea typeface="Times New Roman"/>
                <a:cs typeface="Times New Roman"/>
              </a:rPr>
              <a:t>and Selection</a:t>
            </a:r>
          </a:p>
        </p:txBody>
      </p:sp>
      <p:sp>
        <p:nvSpPr>
          <p:cNvPr id="2" name="Rectangle 1">
            <a:extLst>
              <a:ext uri="{FF2B5EF4-FFF2-40B4-BE49-F238E27FC236}">
                <a16:creationId xmlns:a16="http://schemas.microsoft.com/office/drawing/2014/main" id="{1AD30ADC-2156-47A1-89B6-3E5E6A93338C}"/>
              </a:ext>
            </a:extLst>
          </p:cNvPr>
          <p:cNvSpPr>
            <a:spLocks noGrp="1"/>
          </p:cNvSpPr>
          <p:nvPr/>
        </p:nvSpPr>
        <p:spPr>
          <a:xfrm>
            <a:off x="11525250" y="6524625"/>
            <a:ext cx="285750" cy="190500"/>
          </a:xfrm>
          <a:prstGeom prst="rect">
            <a:avLst/>
          </a:prstGeom>
          <a:noFill/>
          <a:ln w="0">
            <a:noFill/>
          </a:ln>
        </p:spPr>
        <p:txBody>
          <a:bodyPr lIns="0" tIns="0" rIns="0" bIns="0">
            <a:noAutofit/>
          </a:bodyPr>
          <a:lstStyle/>
          <a:p>
            <a:pPr algn="r">
              <a:defRPr sz="975" b="0">
                <a:solidFill>
                  <a:srgbClr val="000000"/>
                </a:solidFill>
                <a:latin typeface="Times New Roman"/>
                <a:ea typeface="Times New Roman"/>
                <a:cs typeface="Times New Roman"/>
              </a:defRPr>
            </a:pPr>
            <a:r>
              <a:rPr sz="975" b="0">
                <a:solidFill>
                  <a:srgbClr val="000000"/>
                </a:solidFill>
                <a:latin typeface="Times New Roman"/>
                <a:ea typeface="Times New Roman"/>
                <a:cs typeface="Times New Roman"/>
              </a:rPr>
              <a:t>6</a:t>
            </a:r>
          </a:p>
        </p:txBody>
      </p:sp>
      <p:graphicFrame>
        <p:nvGraphicFramePr>
          <p:cNvPr id="7" name="Table 6"/>
          <p:cNvGraphicFramePr/>
          <p:nvPr/>
        </p:nvGraphicFramePr>
        <p:xfrm>
          <a:off x="723900" y="2143125"/>
          <a:ext cx="10744200" cy="2948940"/>
        </p:xfrm>
        <a:graphic>
          <a:graphicData uri="http://schemas.openxmlformats.org/drawingml/2006/table">
            <a:tbl>
              <a:tblPr/>
              <a:tblGrid>
                <a:gridCol w="4171950">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gridCol w="2190750">
                  <a:extLst>
                    <a:ext uri="{9D8B030D-6E8A-4147-A177-3AD203B41FA5}">
                      <a16:colId xmlns:a16="http://schemas.microsoft.com/office/drawing/2014/main" val="20003"/>
                    </a:ext>
                  </a:extLst>
                </a:gridCol>
              </a:tblGrid>
              <a:tr h="571500">
                <a:tc>
                  <a:txBody>
                    <a:bodyPr/>
                    <a:lstStyle/>
                    <a:p>
                      <a:r>
                        <a:rPr sz="1875" b="1">
                          <a:solidFill>
                            <a:srgbClr val="000000"/>
                          </a:solidFill>
                          <a:latin typeface="Times New Roman"/>
                          <a:ea typeface="Times New Roman"/>
                          <a:cs typeface="Times New Roman"/>
                        </a:rPr>
                        <a:t>Design criterion</a:t>
                      </a:r>
                    </a:p>
                  </a:txBody>
                  <a:tcPr>
                    <a:solidFill>
                      <a:srgbClr val="FFFFFF"/>
                    </a:solidFill>
                  </a:tcPr>
                </a:tc>
                <a:tc>
                  <a:txBody>
                    <a:bodyPr/>
                    <a:lstStyle/>
                    <a:p>
                      <a:r>
                        <a:rPr sz="1875" b="1">
                          <a:solidFill>
                            <a:srgbClr val="000000"/>
                          </a:solidFill>
                          <a:latin typeface="Times New Roman"/>
                          <a:ea typeface="Times New Roman"/>
                          <a:cs typeface="Times New Roman"/>
                        </a:rPr>
                        <a:t>Scheduled</a:t>
                      </a:r>
                    </a:p>
                  </a:txBody>
                  <a:tcPr>
                    <a:solidFill>
                      <a:srgbClr val="FFFFFF"/>
                    </a:solidFill>
                  </a:tcPr>
                </a:tc>
                <a:tc>
                  <a:txBody>
                    <a:bodyPr/>
                    <a:lstStyle/>
                    <a:p>
                      <a:r>
                        <a:rPr sz="1875" b="1">
                          <a:solidFill>
                            <a:srgbClr val="000000"/>
                          </a:solidFill>
                          <a:latin typeface="Times New Roman"/>
                          <a:ea typeface="Times New Roman"/>
                          <a:cs typeface="Times New Roman"/>
                        </a:rPr>
                        <a:t>Indoor only</a:t>
                      </a:r>
                    </a:p>
                  </a:txBody>
                  <a:tcPr>
                    <a:solidFill>
                      <a:srgbClr val="FFFFFF"/>
                    </a:solidFill>
                  </a:tcPr>
                </a:tc>
                <a:tc>
                  <a:txBody>
                    <a:bodyPr/>
                    <a:lstStyle/>
                    <a:p>
                      <a:r>
                        <a:rPr sz="1875" b="1">
                          <a:solidFill>
                            <a:srgbClr val="000000"/>
                          </a:solidFill>
                          <a:latin typeface="Times New Roman"/>
                          <a:ea typeface="Times New Roman"/>
                          <a:cs typeface="Times New Roman"/>
                        </a:rPr>
                        <a:t>Indoor–</a:t>
                      </a:r>
                    </a:p>
                    <a:p>
                      <a:r>
                        <a:rPr sz="1875" b="1">
                          <a:solidFill>
                            <a:srgbClr val="000000"/>
                          </a:solidFill>
                          <a:latin typeface="Times New Roman"/>
                          <a:ea typeface="Times New Roman"/>
                          <a:cs typeface="Times New Roman"/>
                        </a:rPr>
                        <a:t>outdoor</a:t>
                      </a:r>
                    </a:p>
                  </a:txBody>
                  <a:tcPr>
                    <a:solidFill>
                      <a:srgbClr val="FFFFFF"/>
                    </a:solidFill>
                  </a:tcPr>
                </a:tc>
                <a:extLst>
                  <a:ext uri="{0D108BD9-81ED-4DB2-BD59-A6C34878D82A}">
                    <a16:rowId xmlns:a16="http://schemas.microsoft.com/office/drawing/2014/main" val="10000"/>
                  </a:ext>
                </a:extLst>
              </a:tr>
              <a:tr h="571500">
                <a:tc>
                  <a:txBody>
                    <a:bodyPr/>
                    <a:lstStyle/>
                    <a:p>
                      <a:r>
                        <a:rPr sz="1875" b="1">
                          <a:solidFill>
                            <a:srgbClr val="000000"/>
                          </a:solidFill>
                          <a:latin typeface="Times New Roman"/>
                          <a:ea typeface="Times New Roman"/>
                          <a:cs typeface="Times New Roman"/>
                        </a:rPr>
                        <a:t>Responds to indoor heat</a:t>
                      </a:r>
                    </a:p>
                  </a:txBody>
                  <a:tcPr>
                    <a:solidFill>
                      <a:srgbClr val="FFFFFF"/>
                    </a:solidFill>
                  </a:tcPr>
                </a:tc>
                <a:tc>
                  <a:txBody>
                    <a:bodyPr/>
                    <a:lstStyle/>
                    <a:p>
                      <a:r>
                        <a:rPr sz="1875" b="1">
                          <a:solidFill>
                            <a:srgbClr val="000000"/>
                          </a:solidFill>
                          <a:latin typeface="Times New Roman"/>
                          <a:ea typeface="Times New Roman"/>
                          <a:cs typeface="Times New Roman"/>
                        </a:rPr>
                        <a:t>No</a:t>
                      </a:r>
                    </a:p>
                  </a:txBody>
                  <a:tcPr>
                    <a:solidFill>
                      <a:srgbClr val="FFFFFF"/>
                    </a:solidFill>
                  </a:tcPr>
                </a:tc>
                <a:tc>
                  <a:txBody>
                    <a:bodyPr/>
                    <a:lstStyle/>
                    <a:p>
                      <a:r>
                        <a:rPr sz="1875" b="1">
                          <a:solidFill>
                            <a:srgbClr val="000000"/>
                          </a:solidFill>
                          <a:latin typeface="Times New Roman"/>
                          <a:ea typeface="Times New Roman"/>
                          <a:cs typeface="Times New Roman"/>
                        </a:rPr>
                        <a:t>Yes</a:t>
                      </a:r>
                    </a:p>
                  </a:txBody>
                  <a:tcPr>
                    <a:solidFill>
                      <a:srgbClr val="FFFFFF"/>
                    </a:solidFill>
                  </a:tcPr>
                </a:tc>
                <a:tc>
                  <a:txBody>
                    <a:bodyPr/>
                    <a:lstStyle/>
                    <a:p>
                      <a:r>
                        <a:rPr sz="1875" b="1">
                          <a:solidFill>
                            <a:srgbClr val="000000"/>
                          </a:solidFill>
                          <a:latin typeface="Times New Roman"/>
                          <a:ea typeface="Times New Roman"/>
                          <a:cs typeface="Times New Roman"/>
                        </a:rPr>
                        <a:t>Yes</a:t>
                      </a:r>
                    </a:p>
                  </a:txBody>
                  <a:tcPr>
                    <a:solidFill>
                      <a:srgbClr val="FFFFFF"/>
                    </a:solidFill>
                  </a:tcPr>
                </a:tc>
                <a:extLst>
                  <a:ext uri="{0D108BD9-81ED-4DB2-BD59-A6C34878D82A}">
                    <a16:rowId xmlns:a16="http://schemas.microsoft.com/office/drawing/2014/main" val="10001"/>
                  </a:ext>
                </a:extLst>
              </a:tr>
              <a:tr h="571500">
                <a:tc>
                  <a:txBody>
                    <a:bodyPr/>
                    <a:lstStyle/>
                    <a:p>
                      <a:r>
                        <a:rPr sz="1875" b="1">
                          <a:solidFill>
                            <a:srgbClr val="000000"/>
                          </a:solidFill>
                          <a:latin typeface="Times New Roman"/>
                          <a:ea typeface="Times New Roman"/>
                          <a:cs typeface="Times New Roman"/>
                        </a:rPr>
                        <a:t>Compares outside air</a:t>
                      </a:r>
                    </a:p>
                  </a:txBody>
                  <a:tcPr>
                    <a:solidFill>
                      <a:srgbClr val="FFFFFF"/>
                    </a:solidFill>
                  </a:tcPr>
                </a:tc>
                <a:tc>
                  <a:txBody>
                    <a:bodyPr/>
                    <a:lstStyle/>
                    <a:p>
                      <a:r>
                        <a:rPr sz="1875" b="1">
                          <a:solidFill>
                            <a:srgbClr val="000000"/>
                          </a:solidFill>
                          <a:latin typeface="Times New Roman"/>
                          <a:ea typeface="Times New Roman"/>
                          <a:cs typeface="Times New Roman"/>
                        </a:rPr>
                        <a:t>No</a:t>
                      </a:r>
                    </a:p>
                  </a:txBody>
                  <a:tcPr>
                    <a:solidFill>
                      <a:srgbClr val="FFFFFF"/>
                    </a:solidFill>
                  </a:tcPr>
                </a:tc>
                <a:tc>
                  <a:txBody>
                    <a:bodyPr/>
                    <a:lstStyle/>
                    <a:p>
                      <a:r>
                        <a:rPr sz="1875" b="1">
                          <a:solidFill>
                            <a:srgbClr val="000000"/>
                          </a:solidFill>
                          <a:latin typeface="Times New Roman"/>
                          <a:ea typeface="Times New Roman"/>
                          <a:cs typeface="Times New Roman"/>
                        </a:rPr>
                        <a:t>No</a:t>
                      </a:r>
                    </a:p>
                  </a:txBody>
                  <a:tcPr>
                    <a:solidFill>
                      <a:srgbClr val="FFFFFF"/>
                    </a:solidFill>
                  </a:tcPr>
                </a:tc>
                <a:tc>
                  <a:txBody>
                    <a:bodyPr/>
                    <a:lstStyle/>
                    <a:p>
                      <a:r>
                        <a:rPr sz="1875" b="1">
                          <a:solidFill>
                            <a:srgbClr val="000000"/>
                          </a:solidFill>
                          <a:latin typeface="Times New Roman"/>
                          <a:ea typeface="Times New Roman"/>
                          <a:cs typeface="Times New Roman"/>
                        </a:rPr>
                        <a:t>Yes</a:t>
                      </a:r>
                    </a:p>
                  </a:txBody>
                  <a:tcPr>
                    <a:solidFill>
                      <a:srgbClr val="FFFFFF"/>
                    </a:solidFill>
                  </a:tcPr>
                </a:tc>
                <a:extLst>
                  <a:ext uri="{0D108BD9-81ED-4DB2-BD59-A6C34878D82A}">
                    <a16:rowId xmlns:a16="http://schemas.microsoft.com/office/drawing/2014/main" val="10002"/>
                  </a:ext>
                </a:extLst>
              </a:tr>
              <a:tr h="571500">
                <a:tc>
                  <a:txBody>
                    <a:bodyPr/>
                    <a:lstStyle/>
                    <a:p>
                      <a:r>
                        <a:rPr sz="1875" b="1">
                          <a:solidFill>
                            <a:srgbClr val="000000"/>
                          </a:solidFill>
                          <a:latin typeface="Times New Roman"/>
                          <a:ea typeface="Times New Roman"/>
                          <a:cs typeface="Times New Roman"/>
                        </a:rPr>
                        <a:t>Control complexity</a:t>
                      </a:r>
                    </a:p>
                  </a:txBody>
                  <a:tcPr>
                    <a:solidFill>
                      <a:srgbClr val="FFFFFF"/>
                    </a:solidFill>
                  </a:tcPr>
                </a:tc>
                <a:tc>
                  <a:txBody>
                    <a:bodyPr/>
                    <a:lstStyle/>
                    <a:p>
                      <a:r>
                        <a:rPr sz="1875" b="1">
                          <a:solidFill>
                            <a:srgbClr val="000000"/>
                          </a:solidFill>
                          <a:latin typeface="Times New Roman"/>
                          <a:ea typeface="Times New Roman"/>
                          <a:cs typeface="Times New Roman"/>
                        </a:rPr>
                        <a:t>Low</a:t>
                      </a:r>
                    </a:p>
                  </a:txBody>
                  <a:tcPr>
                    <a:solidFill>
                      <a:srgbClr val="FFFFFF"/>
                    </a:solidFill>
                  </a:tcPr>
                </a:tc>
                <a:tc>
                  <a:txBody>
                    <a:bodyPr/>
                    <a:lstStyle/>
                    <a:p>
                      <a:r>
                        <a:rPr sz="1875" b="1">
                          <a:solidFill>
                            <a:srgbClr val="000000"/>
                          </a:solidFill>
                          <a:latin typeface="Times New Roman"/>
                          <a:ea typeface="Times New Roman"/>
                          <a:cs typeface="Times New Roman"/>
                        </a:rPr>
                        <a:t>Moderate</a:t>
                      </a:r>
                    </a:p>
                  </a:txBody>
                  <a:tcPr>
                    <a:solidFill>
                      <a:srgbClr val="FFFFFF"/>
                    </a:solidFill>
                  </a:tcPr>
                </a:tc>
                <a:tc>
                  <a:txBody>
                    <a:bodyPr/>
                    <a:lstStyle/>
                    <a:p>
                      <a:r>
                        <a:rPr sz="1875" b="1">
                          <a:solidFill>
                            <a:srgbClr val="000000"/>
                          </a:solidFill>
                          <a:latin typeface="Times New Roman"/>
                          <a:ea typeface="Times New Roman"/>
                          <a:cs typeface="Times New Roman"/>
                        </a:rPr>
                        <a:t>Higher</a:t>
                      </a:r>
                    </a:p>
                  </a:txBody>
                  <a:tcPr>
                    <a:solidFill>
                      <a:srgbClr val="FFFFFF"/>
                    </a:solidFill>
                  </a:tcPr>
                </a:tc>
                <a:extLst>
                  <a:ext uri="{0D108BD9-81ED-4DB2-BD59-A6C34878D82A}">
                    <a16:rowId xmlns:a16="http://schemas.microsoft.com/office/drawing/2014/main" val="10003"/>
                  </a:ext>
                </a:extLst>
              </a:tr>
              <a:tr h="571500">
                <a:tc>
                  <a:txBody>
                    <a:bodyPr/>
                    <a:lstStyle/>
                    <a:p>
                      <a:r>
                        <a:rPr sz="1875" b="1">
                          <a:solidFill>
                            <a:srgbClr val="000000"/>
                          </a:solidFill>
                          <a:latin typeface="Times New Roman"/>
                          <a:ea typeface="Times New Roman"/>
                          <a:cs typeface="Times New Roman"/>
                        </a:rPr>
                        <a:t>Supports current goal</a:t>
                      </a:r>
                    </a:p>
                  </a:txBody>
                  <a:tcPr>
                    <a:solidFill>
                      <a:srgbClr val="FFFFFF"/>
                    </a:solidFill>
                  </a:tcPr>
                </a:tc>
                <a:tc>
                  <a:txBody>
                    <a:bodyPr/>
                    <a:lstStyle/>
                    <a:p>
                      <a:r>
                        <a:rPr sz="1875" b="1">
                          <a:solidFill>
                            <a:srgbClr val="000000"/>
                          </a:solidFill>
                          <a:latin typeface="Times New Roman"/>
                          <a:ea typeface="Times New Roman"/>
                          <a:cs typeface="Times New Roman"/>
                        </a:rPr>
                        <a:t>Limited</a:t>
                      </a:r>
                    </a:p>
                  </a:txBody>
                  <a:tcPr>
                    <a:solidFill>
                      <a:srgbClr val="FFFFFF"/>
                    </a:solidFill>
                  </a:tcPr>
                </a:tc>
                <a:tc>
                  <a:txBody>
                    <a:bodyPr/>
                    <a:lstStyle/>
                    <a:p>
                      <a:r>
                        <a:rPr sz="1875" b="1">
                          <a:solidFill>
                            <a:srgbClr val="000000"/>
                          </a:solidFill>
                          <a:latin typeface="Times New Roman"/>
                          <a:ea typeface="Times New Roman"/>
                          <a:cs typeface="Times New Roman"/>
                        </a:rPr>
                        <a:t>Partial</a:t>
                      </a:r>
                    </a:p>
                  </a:txBody>
                  <a:tcPr>
                    <a:solidFill>
                      <a:srgbClr val="FFFFFF"/>
                    </a:solidFill>
                  </a:tcPr>
                </a:tc>
                <a:tc>
                  <a:txBody>
                    <a:bodyPr/>
                    <a:lstStyle/>
                    <a:p>
                      <a:r>
                        <a:rPr sz="1875" b="1">
                          <a:solidFill>
                            <a:srgbClr val="000000"/>
                          </a:solidFill>
                          <a:latin typeface="Times New Roman"/>
                          <a:ea typeface="Times New Roman"/>
                          <a:cs typeface="Times New Roman"/>
                        </a:rPr>
                        <a:t>Best match</a:t>
                      </a:r>
                    </a:p>
                  </a:txBody>
                  <a:tcPr>
                    <a:solidFill>
                      <a:srgbClr val="FFFFFF"/>
                    </a:solidFill>
                  </a:tcPr>
                </a:tc>
                <a:extLst>
                  <a:ext uri="{0D108BD9-81ED-4DB2-BD59-A6C34878D82A}">
                    <a16:rowId xmlns:a16="http://schemas.microsoft.com/office/drawing/2014/main" val="10004"/>
                  </a:ext>
                </a:extLst>
              </a:tr>
            </a:tbl>
          </a:graphicData>
        </a:graphic>
      </p:graphicFrame>
      <p:sp>
        <p:nvSpPr>
          <p:cNvPr id="4" name="Rectangle 3">
            <a:extLst>
              <a:ext uri="{FF2B5EF4-FFF2-40B4-BE49-F238E27FC236}">
                <a16:creationId xmlns:a16="http://schemas.microsoft.com/office/drawing/2014/main" id="{9B2F0A9E-EA42-49E5-BB1E-E9E125853C75}"/>
              </a:ext>
            </a:extLst>
          </p:cNvPr>
          <p:cNvSpPr>
            <a:spLocks noGrp="1"/>
          </p:cNvSpPr>
          <p:nvPr/>
        </p:nvSpPr>
        <p:spPr>
          <a:xfrm>
            <a:off x="723900" y="5476875"/>
            <a:ext cx="10744200" cy="666750"/>
          </a:xfrm>
          <a:prstGeom prst="rect">
            <a:avLst/>
          </a:prstGeom>
          <a:noFill/>
          <a:ln w="0">
            <a:noFill/>
          </a:ln>
        </p:spPr>
        <p:txBody>
          <a:bodyPr lIns="0" tIns="0" rIns="0" bIns="0">
            <a:noAutofit/>
          </a:bodyPr>
          <a:lstStyle/>
          <a:p>
            <a:pPr algn="l">
              <a:defRPr sz="2250" b="1">
                <a:solidFill>
                  <a:srgbClr val="000000"/>
                </a:solidFill>
                <a:latin typeface="Times New Roman"/>
                <a:ea typeface="Times New Roman"/>
                <a:cs typeface="Times New Roman"/>
              </a:defRPr>
            </a:pPr>
            <a:r>
              <a:rPr sz="2250" b="1">
                <a:solidFill>
                  <a:srgbClr val="000000"/>
                </a:solidFill>
                <a:latin typeface="Times New Roman"/>
                <a:ea typeface="Times New Roman"/>
                <a:cs typeface="Times New Roman"/>
              </a:rPr>
              <a:t>Selected: indoor–outdoor monitoring with automatic fan control.</a:t>
            </a:r>
          </a:p>
        </p:txBody>
      </p:sp>
    </p:spTree>
    <p:extLst>
      <p:ext uri="{BB962C8B-B14F-4D97-AF65-F5344CB8AC3E}">
        <p14:creationId xmlns:p14="http://schemas.microsoft.com/office/powerpoint/2010/main" val="15531405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Elbow Connector 15"/>
          <p:cNvCxnSpPr>
            <a:stCxn id="7" idx="3"/>
            <a:endCxn id="4" idx="1"/>
          </p:cNvCxnSpPr>
          <p:nvPr/>
        </p:nvCxnSpPr>
        <p:spPr>
          <a:xfrm flipV="1">
            <a:off x="3695700" y="3667125"/>
            <a:ext cx="876300" cy="1500188"/>
          </a:xfrm>
          <a:prstGeom prst="bentConnector3">
            <a:avLst>
              <a:gd name="adj1" fmla="val 50000"/>
            </a:avLst>
          </a:prstGeom>
          <a:ln w="19050">
            <a:solidFill>
              <a:srgbClr val="000000"/>
            </a:solidFill>
            <a:prstDash val="dash"/>
            <a:tailEnd type="triangle" w="sm" len="sm"/>
          </a:ln>
        </p:spPr>
      </p:cxnSp>
      <p:cxnSp>
        <p:nvCxnSpPr>
          <p:cNvPr id="17" name="Elbow Connector 16"/>
          <p:cNvCxnSpPr>
            <a:stCxn id="4" idx="3"/>
            <a:endCxn id="6" idx="1"/>
          </p:cNvCxnSpPr>
          <p:nvPr/>
        </p:nvCxnSpPr>
        <p:spPr>
          <a:xfrm>
            <a:off x="7620000" y="3667125"/>
            <a:ext cx="952500" cy="1500188"/>
          </a:xfrm>
          <a:prstGeom prst="bentConnector3">
            <a:avLst>
              <a:gd name="adj1" fmla="val 50000"/>
            </a:avLst>
          </a:prstGeom>
          <a:ln w="19050">
            <a:solidFill>
              <a:srgbClr val="000000"/>
            </a:solidFill>
            <a:prstDash val="solid"/>
            <a:tailEnd type="triangle" w="sm" len="sm"/>
          </a:ln>
        </p:spPr>
      </p:cxnSp>
      <p:cxnSp>
        <p:nvCxnSpPr>
          <p:cNvPr id="18" name="Elbow Connector 17"/>
          <p:cNvCxnSpPr>
            <a:stCxn id="4" idx="3"/>
            <a:endCxn id="5" idx="1"/>
          </p:cNvCxnSpPr>
          <p:nvPr/>
        </p:nvCxnSpPr>
        <p:spPr>
          <a:xfrm flipV="1">
            <a:off x="7620000" y="2690813"/>
            <a:ext cx="952500" cy="976313"/>
          </a:xfrm>
          <a:prstGeom prst="bentConnector3">
            <a:avLst>
              <a:gd name="adj1" fmla="val 50000"/>
            </a:avLst>
          </a:prstGeom>
          <a:ln w="19050">
            <a:solidFill>
              <a:srgbClr val="000000"/>
            </a:solidFill>
            <a:prstDash val="solid"/>
            <a:tailEnd type="triangle" w="sm" len="sm"/>
          </a:ln>
        </p:spPr>
      </p:cxnSp>
      <p:cxnSp>
        <p:nvCxnSpPr>
          <p:cNvPr id="19" name="Elbow Connector 18"/>
          <p:cNvCxnSpPr>
            <a:stCxn id="3" idx="3"/>
            <a:endCxn id="4" idx="1"/>
          </p:cNvCxnSpPr>
          <p:nvPr/>
        </p:nvCxnSpPr>
        <p:spPr>
          <a:xfrm>
            <a:off x="3695700" y="2690813"/>
            <a:ext cx="876300" cy="976313"/>
          </a:xfrm>
          <a:prstGeom prst="bentConnector3">
            <a:avLst>
              <a:gd name="adj1" fmla="val 50000"/>
            </a:avLst>
          </a:prstGeom>
          <a:ln w="19050">
            <a:solidFill>
              <a:srgbClr val="000000"/>
            </a:solidFill>
            <a:prstDash val="solid"/>
            <a:tailEnd type="triangle" w="sm" len="sm"/>
          </a:ln>
        </p:spPr>
      </p:cxnSp>
      <p:sp>
        <p:nvSpPr>
          <p:cNvPr id="20" name="Rectangle 19">
            <a:extLst>
              <a:ext uri="{FF2B5EF4-FFF2-40B4-BE49-F238E27FC236}">
                <a16:creationId xmlns:a16="http://schemas.microsoft.com/office/drawing/2014/main" id="{3AED3AB0-33A0-4487-BB84-3AFFDAFE90A8}"/>
              </a:ext>
            </a:extLst>
          </p:cNvPr>
          <p:cNvSpPr>
            <a:spLocks noGrp="1"/>
          </p:cNvSpPr>
          <p:nvPr/>
        </p:nvSpPr>
        <p:spPr>
          <a:xfrm>
            <a:off x="419100" y="285750"/>
            <a:ext cx="11353800" cy="952500"/>
          </a:xfrm>
          <a:prstGeom prst="rect">
            <a:avLst/>
          </a:prstGeom>
          <a:noFill/>
          <a:ln w="0">
            <a:noFill/>
          </a:ln>
        </p:spPr>
        <p:txBody>
          <a:bodyPr lIns="0" tIns="0" rIns="0" bIns="0">
            <a:noAutofit/>
          </a:bodyPr>
          <a:lstStyle/>
          <a:p>
            <a:pPr algn="l">
              <a:defRPr sz="5100" b="1">
                <a:solidFill>
                  <a:srgbClr val="000000"/>
                </a:solidFill>
                <a:latin typeface="Times New Roman"/>
                <a:ea typeface="Times New Roman"/>
                <a:cs typeface="Times New Roman"/>
              </a:defRPr>
            </a:pPr>
            <a:r>
              <a:rPr sz="5100" b="1">
                <a:solidFill>
                  <a:srgbClr val="000000"/>
                </a:solidFill>
                <a:latin typeface="Times New Roman"/>
                <a:ea typeface="Times New Roman"/>
                <a:cs typeface="Times New Roman"/>
              </a:rPr>
              <a:t>System Decomposition</a:t>
            </a:r>
          </a:p>
        </p:txBody>
      </p:sp>
      <p:sp>
        <p:nvSpPr>
          <p:cNvPr id="2" name="Rectangle 1">
            <a:extLst>
              <a:ext uri="{FF2B5EF4-FFF2-40B4-BE49-F238E27FC236}">
                <a16:creationId xmlns:a16="http://schemas.microsoft.com/office/drawing/2014/main" id="{5AF85050-80DB-4B55-BE20-2C7B01271612}"/>
              </a:ext>
            </a:extLst>
          </p:cNvPr>
          <p:cNvSpPr>
            <a:spLocks noGrp="1"/>
          </p:cNvSpPr>
          <p:nvPr/>
        </p:nvSpPr>
        <p:spPr>
          <a:xfrm>
            <a:off x="11525250" y="6524625"/>
            <a:ext cx="285750" cy="190500"/>
          </a:xfrm>
          <a:prstGeom prst="rect">
            <a:avLst/>
          </a:prstGeom>
          <a:noFill/>
          <a:ln w="0">
            <a:noFill/>
          </a:ln>
        </p:spPr>
        <p:txBody>
          <a:bodyPr lIns="0" tIns="0" rIns="0" bIns="0">
            <a:noAutofit/>
          </a:bodyPr>
          <a:lstStyle/>
          <a:p>
            <a:pPr algn="r">
              <a:defRPr sz="975" b="0">
                <a:solidFill>
                  <a:srgbClr val="000000"/>
                </a:solidFill>
                <a:latin typeface="Times New Roman"/>
                <a:ea typeface="Times New Roman"/>
                <a:cs typeface="Times New Roman"/>
              </a:defRPr>
            </a:pPr>
            <a:r>
              <a:rPr sz="975" b="0">
                <a:solidFill>
                  <a:srgbClr val="000000"/>
                </a:solidFill>
                <a:latin typeface="Times New Roman"/>
                <a:ea typeface="Times New Roman"/>
                <a:cs typeface="Times New Roman"/>
              </a:rPr>
              <a:t>7</a:t>
            </a:r>
          </a:p>
        </p:txBody>
      </p:sp>
      <p:sp>
        <p:nvSpPr>
          <p:cNvPr id="3" name="Rectangle 2">
            <a:extLst>
              <a:ext uri="{FF2B5EF4-FFF2-40B4-BE49-F238E27FC236}">
                <a16:creationId xmlns:a16="http://schemas.microsoft.com/office/drawing/2014/main" id="{8BB0C72F-182B-4A16-876C-6D06DBFCF0C5}"/>
              </a:ext>
            </a:extLst>
          </p:cNvPr>
          <p:cNvSpPr>
            <a:spLocks noGrp="1"/>
          </p:cNvSpPr>
          <p:nvPr/>
        </p:nvSpPr>
        <p:spPr>
          <a:xfrm>
            <a:off x="647700" y="2095500"/>
            <a:ext cx="3048000" cy="1190625"/>
          </a:xfrm>
          <a:prstGeom prst="rect">
            <a:avLst/>
          </a:prstGeom>
          <a:solidFill>
            <a:srgbClr val="FFFFFF"/>
          </a:solidFill>
          <a:ln w="14288">
            <a:solidFill>
              <a:srgbClr val="000000"/>
            </a:solidFill>
          </a:ln>
        </p:spPr>
        <p:txBody>
          <a:bodyPr lIns="76200" tIns="76200" rIns="76200" bIns="76200" anchor="ctr"/>
          <a:lstStyle/>
          <a:p>
            <a:pPr algn="ctr">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Sensing</a:t>
            </a:r>
          </a:p>
          <a:p>
            <a:pPr algn="ctr">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2 DS18B20 probes</a:t>
            </a:r>
          </a:p>
          <a:p>
            <a:pPr algn="ctr">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Inside and outside</a:t>
            </a:r>
          </a:p>
        </p:txBody>
      </p:sp>
      <p:sp>
        <p:nvSpPr>
          <p:cNvPr id="4" name="Rectangle 3">
            <a:extLst>
              <a:ext uri="{FF2B5EF4-FFF2-40B4-BE49-F238E27FC236}">
                <a16:creationId xmlns:a16="http://schemas.microsoft.com/office/drawing/2014/main" id="{0E748525-D3FD-411F-AE49-44860405BD1D}"/>
              </a:ext>
            </a:extLst>
          </p:cNvPr>
          <p:cNvSpPr>
            <a:spLocks noGrp="1"/>
          </p:cNvSpPr>
          <p:nvPr/>
        </p:nvSpPr>
        <p:spPr>
          <a:xfrm>
            <a:off x="4572000" y="3000375"/>
            <a:ext cx="3048000" cy="1333500"/>
          </a:xfrm>
          <a:prstGeom prst="rect">
            <a:avLst/>
          </a:prstGeom>
          <a:solidFill>
            <a:srgbClr val="FFFFFF"/>
          </a:solidFill>
          <a:ln w="14288">
            <a:solidFill>
              <a:srgbClr val="000000"/>
            </a:solidFill>
          </a:ln>
        </p:spPr>
        <p:txBody>
          <a:bodyPr lIns="76200" tIns="76200" rIns="76200" bIns="76200" anchor="ctr"/>
          <a:lstStyle/>
          <a:p>
            <a:pPr algn="ctr">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Processing</a:t>
            </a:r>
          </a:p>
          <a:p>
            <a:pPr algn="ctr">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ESP32 controller</a:t>
            </a:r>
          </a:p>
          <a:p>
            <a:pPr algn="ctr">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Five-state logic</a:t>
            </a:r>
          </a:p>
        </p:txBody>
      </p:sp>
      <p:sp>
        <p:nvSpPr>
          <p:cNvPr id="5" name="Rectangle 4">
            <a:extLst>
              <a:ext uri="{FF2B5EF4-FFF2-40B4-BE49-F238E27FC236}">
                <a16:creationId xmlns:a16="http://schemas.microsoft.com/office/drawing/2014/main" id="{AAF1DC5D-B4F7-467B-9C92-F71BC97248AF}"/>
              </a:ext>
            </a:extLst>
          </p:cNvPr>
          <p:cNvSpPr>
            <a:spLocks noGrp="1"/>
          </p:cNvSpPr>
          <p:nvPr/>
        </p:nvSpPr>
        <p:spPr>
          <a:xfrm>
            <a:off x="8572500" y="2095500"/>
            <a:ext cx="3048000" cy="1190625"/>
          </a:xfrm>
          <a:prstGeom prst="rect">
            <a:avLst/>
          </a:prstGeom>
          <a:solidFill>
            <a:srgbClr val="FFFFFF"/>
          </a:solidFill>
          <a:ln w="14288">
            <a:solidFill>
              <a:srgbClr val="000000"/>
            </a:solidFill>
          </a:ln>
        </p:spPr>
        <p:txBody>
          <a:bodyPr lIns="76200" tIns="76200" rIns="76200" bIns="76200" anchor="ctr"/>
          <a:lstStyle/>
          <a:p>
            <a:pPr algn="ctr">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Actuation</a:t>
            </a:r>
          </a:p>
          <a:p>
            <a:pPr algn="ctr">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DRV8833 driver</a:t>
            </a:r>
          </a:p>
          <a:p>
            <a:pPr algn="ctr">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Intake + exhaust fans</a:t>
            </a:r>
          </a:p>
        </p:txBody>
      </p:sp>
      <p:sp>
        <p:nvSpPr>
          <p:cNvPr id="6" name="Rectangle 5">
            <a:extLst>
              <a:ext uri="{FF2B5EF4-FFF2-40B4-BE49-F238E27FC236}">
                <a16:creationId xmlns:a16="http://schemas.microsoft.com/office/drawing/2014/main" id="{DBAF447E-F6D7-4384-8B53-04F3D24DC7E5}"/>
              </a:ext>
            </a:extLst>
          </p:cNvPr>
          <p:cNvSpPr>
            <a:spLocks noGrp="1"/>
          </p:cNvSpPr>
          <p:nvPr/>
        </p:nvSpPr>
        <p:spPr>
          <a:xfrm>
            <a:off x="8572500" y="4572000"/>
            <a:ext cx="3048000" cy="1190625"/>
          </a:xfrm>
          <a:prstGeom prst="rect">
            <a:avLst/>
          </a:prstGeom>
          <a:solidFill>
            <a:srgbClr val="FFFFFF"/>
          </a:solidFill>
          <a:ln w="14288">
            <a:solidFill>
              <a:srgbClr val="000000"/>
            </a:solidFill>
          </a:ln>
        </p:spPr>
        <p:txBody>
          <a:bodyPr lIns="76200" tIns="76200" rIns="76200" bIns="76200" anchor="ctr"/>
          <a:lstStyle/>
          <a:p>
            <a:pPr algn="ctr">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User Interface</a:t>
            </a:r>
          </a:p>
          <a:p>
            <a:pPr algn="ctr">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3 OLED displays</a:t>
            </a:r>
          </a:p>
          <a:p>
            <a:pPr algn="ctr">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Buzzer module</a:t>
            </a:r>
          </a:p>
        </p:txBody>
      </p:sp>
      <p:sp>
        <p:nvSpPr>
          <p:cNvPr id="7" name="Rectangle 6">
            <a:extLst>
              <a:ext uri="{FF2B5EF4-FFF2-40B4-BE49-F238E27FC236}">
                <a16:creationId xmlns:a16="http://schemas.microsoft.com/office/drawing/2014/main" id="{84E7B75A-B1B5-4BAC-94F1-ADA8CE809CC2}"/>
              </a:ext>
            </a:extLst>
          </p:cNvPr>
          <p:cNvSpPr>
            <a:spLocks noGrp="1"/>
          </p:cNvSpPr>
          <p:nvPr/>
        </p:nvSpPr>
        <p:spPr>
          <a:xfrm>
            <a:off x="647700" y="4572000"/>
            <a:ext cx="3048000" cy="1190625"/>
          </a:xfrm>
          <a:prstGeom prst="rect">
            <a:avLst/>
          </a:prstGeom>
          <a:solidFill>
            <a:srgbClr val="FFFFFF"/>
          </a:solidFill>
          <a:ln w="14288">
            <a:solidFill>
              <a:srgbClr val="000000"/>
            </a:solidFill>
          </a:ln>
        </p:spPr>
        <p:txBody>
          <a:bodyPr lIns="76200" tIns="76200" rIns="76200" bIns="76200" anchor="ctr"/>
          <a:lstStyle/>
          <a:p>
            <a:pPr algn="ctr">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Power</a:t>
            </a:r>
          </a:p>
          <a:p>
            <a:pPr algn="ctr">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USB-C logic supply</a:t>
            </a:r>
          </a:p>
          <a:p>
            <a:pPr algn="ctr">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5 V fan supply</a:t>
            </a:r>
          </a:p>
        </p:txBody>
      </p:sp>
      <p:sp>
        <p:nvSpPr>
          <p:cNvPr id="12" name="Rectangle 11">
            <a:extLst>
              <a:ext uri="{FF2B5EF4-FFF2-40B4-BE49-F238E27FC236}">
                <a16:creationId xmlns:a16="http://schemas.microsoft.com/office/drawing/2014/main" id="{B62A76BE-498A-4A94-A862-10AA2C05AFC4}"/>
              </a:ext>
            </a:extLst>
          </p:cNvPr>
          <p:cNvSpPr>
            <a:spLocks noGrp="1"/>
          </p:cNvSpPr>
          <p:nvPr/>
        </p:nvSpPr>
        <p:spPr>
          <a:xfrm>
            <a:off x="3762375" y="2286000"/>
            <a:ext cx="3238500" cy="333375"/>
          </a:xfrm>
          <a:prstGeom prst="rect">
            <a:avLst/>
          </a:prstGeom>
          <a:noFill/>
          <a:ln w="0">
            <a:noFill/>
          </a:ln>
        </p:spPr>
        <p:txBody>
          <a:bodyPr lIns="0" tIns="0" rIns="0" bIns="0">
            <a:noAutofit/>
          </a:bodyPr>
          <a:lstStyle/>
          <a:p>
            <a:pPr algn="l">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Temperature data</a:t>
            </a:r>
          </a:p>
        </p:txBody>
      </p:sp>
      <p:sp>
        <p:nvSpPr>
          <p:cNvPr id="13" name="Rectangle 12">
            <a:extLst>
              <a:ext uri="{FF2B5EF4-FFF2-40B4-BE49-F238E27FC236}">
                <a16:creationId xmlns:a16="http://schemas.microsoft.com/office/drawing/2014/main" id="{C71998F6-9A2C-4EA0-A230-97433E3BFB9F}"/>
              </a:ext>
            </a:extLst>
          </p:cNvPr>
          <p:cNvSpPr>
            <a:spLocks noGrp="1"/>
          </p:cNvSpPr>
          <p:nvPr/>
        </p:nvSpPr>
        <p:spPr>
          <a:xfrm>
            <a:off x="8667750" y="3381375"/>
            <a:ext cx="2857500" cy="333375"/>
          </a:xfrm>
          <a:prstGeom prst="rect">
            <a:avLst/>
          </a:prstGeom>
          <a:noFill/>
          <a:ln w="0">
            <a:noFill/>
          </a:ln>
        </p:spPr>
        <p:txBody>
          <a:bodyPr lIns="0" tIns="0" rIns="0" bIns="0">
            <a:noAutofit/>
          </a:bodyPr>
          <a:lstStyle/>
          <a:p>
            <a:pPr algn="l">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Control signals</a:t>
            </a:r>
          </a:p>
        </p:txBody>
      </p:sp>
      <p:sp>
        <p:nvSpPr>
          <p:cNvPr id="14" name="Rectangle 13">
            <a:extLst>
              <a:ext uri="{FF2B5EF4-FFF2-40B4-BE49-F238E27FC236}">
                <a16:creationId xmlns:a16="http://schemas.microsoft.com/office/drawing/2014/main" id="{97CBFC76-5A2F-40D5-91EC-5D8652B60FB9}"/>
              </a:ext>
            </a:extLst>
          </p:cNvPr>
          <p:cNvSpPr>
            <a:spLocks noGrp="1"/>
          </p:cNvSpPr>
          <p:nvPr/>
        </p:nvSpPr>
        <p:spPr>
          <a:xfrm>
            <a:off x="8667750" y="4191000"/>
            <a:ext cx="2952750" cy="333375"/>
          </a:xfrm>
          <a:prstGeom prst="rect">
            <a:avLst/>
          </a:prstGeom>
          <a:noFill/>
          <a:ln w="0">
            <a:noFill/>
          </a:ln>
        </p:spPr>
        <p:txBody>
          <a:bodyPr lIns="0" tIns="0" rIns="0" bIns="0">
            <a:noAutofit/>
          </a:bodyPr>
          <a:lstStyle/>
          <a:p>
            <a:pPr algn="l">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Display and alarm</a:t>
            </a:r>
          </a:p>
        </p:txBody>
      </p:sp>
      <p:sp>
        <p:nvSpPr>
          <p:cNvPr id="15" name="Rectangle 14">
            <a:extLst>
              <a:ext uri="{FF2B5EF4-FFF2-40B4-BE49-F238E27FC236}">
                <a16:creationId xmlns:a16="http://schemas.microsoft.com/office/drawing/2014/main" id="{579A8D21-A5DE-487D-A00E-05AF98EB1E93}"/>
              </a:ext>
            </a:extLst>
          </p:cNvPr>
          <p:cNvSpPr>
            <a:spLocks noGrp="1"/>
          </p:cNvSpPr>
          <p:nvPr/>
        </p:nvSpPr>
        <p:spPr>
          <a:xfrm>
            <a:off x="647700" y="6143625"/>
            <a:ext cx="10477500" cy="333375"/>
          </a:xfrm>
          <a:prstGeom prst="rect">
            <a:avLst/>
          </a:prstGeom>
          <a:noFill/>
          <a:ln w="0">
            <a:noFill/>
          </a:ln>
        </p:spPr>
        <p:txBody>
          <a:bodyPr lIns="0" tIns="0" rIns="0" bIns="0">
            <a:noAutofit/>
          </a:bodyPr>
          <a:lstStyle/>
          <a:p>
            <a:pPr algn="l">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Common ground connects both power paths.</a:t>
            </a:r>
          </a:p>
        </p:txBody>
      </p:sp>
    </p:spTree>
    <p:extLst>
      <p:ext uri="{BB962C8B-B14F-4D97-AF65-F5344CB8AC3E}">
        <p14:creationId xmlns:p14="http://schemas.microsoft.com/office/powerpoint/2010/main" val="15762904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Elbow Connector 26"/>
          <p:cNvCxnSpPr>
            <a:stCxn id="8" idx="2"/>
            <a:endCxn id="11" idx="0"/>
          </p:cNvCxnSpPr>
          <p:nvPr/>
        </p:nvCxnSpPr>
        <p:spPr>
          <a:xfrm>
            <a:off x="6096000" y="4857750"/>
            <a:ext cx="4000500" cy="523875"/>
          </a:xfrm>
          <a:prstGeom prst="bentConnector4">
            <a:avLst>
              <a:gd name="adj1" fmla="val 0"/>
              <a:gd name="adj2" fmla="val 50000"/>
            </a:avLst>
          </a:prstGeom>
          <a:ln w="19050">
            <a:solidFill>
              <a:srgbClr val="000000"/>
            </a:solidFill>
            <a:prstDash val="solid"/>
            <a:tailEnd type="triangle" w="sm" len="sm"/>
          </a:ln>
        </p:spPr>
      </p:cxnSp>
      <p:cxnSp>
        <p:nvCxnSpPr>
          <p:cNvPr id="28" name="Straight Arrow Connector 27"/>
          <p:cNvCxnSpPr>
            <a:stCxn id="8" idx="2"/>
            <a:endCxn id="10" idx="0"/>
          </p:cNvCxnSpPr>
          <p:nvPr/>
        </p:nvCxnSpPr>
        <p:spPr>
          <a:xfrm>
            <a:off x="6096000" y="4857750"/>
            <a:ext cx="0" cy="523875"/>
          </a:xfrm>
          <a:prstGeom prst="straightConnector1">
            <a:avLst/>
          </a:prstGeom>
          <a:ln w="19050">
            <a:solidFill>
              <a:srgbClr val="000000"/>
            </a:solidFill>
            <a:prstDash val="solid"/>
            <a:tailEnd type="triangle" w="sm" len="sm"/>
          </a:ln>
        </p:spPr>
      </p:cxnSp>
      <p:cxnSp>
        <p:nvCxnSpPr>
          <p:cNvPr id="29" name="Elbow Connector 28"/>
          <p:cNvCxnSpPr>
            <a:stCxn id="8" idx="2"/>
            <a:endCxn id="9" idx="0"/>
          </p:cNvCxnSpPr>
          <p:nvPr/>
        </p:nvCxnSpPr>
        <p:spPr>
          <a:xfrm flipH="1">
            <a:off x="2076450" y="4857750"/>
            <a:ext cx="4019550" cy="523875"/>
          </a:xfrm>
          <a:prstGeom prst="bentConnector4">
            <a:avLst>
              <a:gd name="adj1" fmla="val 0"/>
              <a:gd name="adj2" fmla="val 50000"/>
            </a:avLst>
          </a:prstGeom>
          <a:ln w="19050">
            <a:solidFill>
              <a:srgbClr val="000000"/>
            </a:solidFill>
            <a:prstDash val="solid"/>
            <a:tailEnd type="triangle" w="sm" len="sm"/>
          </a:ln>
        </p:spPr>
      </p:cxnSp>
      <p:cxnSp>
        <p:nvCxnSpPr>
          <p:cNvPr id="30" name="Straight Arrow Connector 29"/>
          <p:cNvCxnSpPr>
            <a:stCxn id="6" idx="2"/>
            <a:endCxn id="8" idx="0"/>
          </p:cNvCxnSpPr>
          <p:nvPr/>
        </p:nvCxnSpPr>
        <p:spPr>
          <a:xfrm>
            <a:off x="6096000" y="3857625"/>
            <a:ext cx="0" cy="381000"/>
          </a:xfrm>
          <a:prstGeom prst="straightConnector1">
            <a:avLst/>
          </a:prstGeom>
          <a:ln w="19050">
            <a:solidFill>
              <a:srgbClr val="000000"/>
            </a:solidFill>
            <a:prstDash val="solid"/>
            <a:tailEnd type="triangle" w="sm" len="sm"/>
          </a:ln>
        </p:spPr>
      </p:cxnSp>
      <p:cxnSp>
        <p:nvCxnSpPr>
          <p:cNvPr id="31" name="Straight Arrow Connector 30"/>
          <p:cNvCxnSpPr>
            <a:stCxn id="6" idx="1"/>
            <a:endCxn id="7" idx="3"/>
          </p:cNvCxnSpPr>
          <p:nvPr/>
        </p:nvCxnSpPr>
        <p:spPr>
          <a:xfrm flipH="1">
            <a:off x="3409950" y="3548063"/>
            <a:ext cx="876300" cy="0"/>
          </a:xfrm>
          <a:prstGeom prst="straightConnector1">
            <a:avLst/>
          </a:prstGeom>
          <a:ln w="19050">
            <a:solidFill>
              <a:srgbClr val="000000"/>
            </a:solidFill>
            <a:prstDash val="solid"/>
            <a:tailEnd type="triangle" w="sm" len="sm"/>
          </a:ln>
        </p:spPr>
      </p:cxnSp>
      <p:cxnSp>
        <p:nvCxnSpPr>
          <p:cNvPr id="32" name="Straight Arrow Connector 31"/>
          <p:cNvCxnSpPr>
            <a:stCxn id="4" idx="2"/>
            <a:endCxn id="6" idx="0"/>
          </p:cNvCxnSpPr>
          <p:nvPr/>
        </p:nvCxnSpPr>
        <p:spPr>
          <a:xfrm>
            <a:off x="6096000" y="2857500"/>
            <a:ext cx="0" cy="381000"/>
          </a:xfrm>
          <a:prstGeom prst="straightConnector1">
            <a:avLst/>
          </a:prstGeom>
          <a:ln w="19050">
            <a:solidFill>
              <a:srgbClr val="000000"/>
            </a:solidFill>
            <a:prstDash val="solid"/>
            <a:tailEnd type="triangle" w="sm" len="sm"/>
          </a:ln>
        </p:spPr>
      </p:cxnSp>
      <p:cxnSp>
        <p:nvCxnSpPr>
          <p:cNvPr id="33" name="Straight Arrow Connector 32"/>
          <p:cNvCxnSpPr>
            <a:stCxn id="4" idx="3"/>
            <a:endCxn id="5" idx="1"/>
          </p:cNvCxnSpPr>
          <p:nvPr/>
        </p:nvCxnSpPr>
        <p:spPr>
          <a:xfrm>
            <a:off x="7905750" y="2547938"/>
            <a:ext cx="762000" cy="0"/>
          </a:xfrm>
          <a:prstGeom prst="straightConnector1">
            <a:avLst/>
          </a:prstGeom>
          <a:ln w="19050">
            <a:solidFill>
              <a:srgbClr val="000000"/>
            </a:solidFill>
            <a:prstDash val="solid"/>
            <a:tailEnd type="triangle" w="sm" len="sm"/>
          </a:ln>
        </p:spPr>
      </p:cxnSp>
      <p:cxnSp>
        <p:nvCxnSpPr>
          <p:cNvPr id="34" name="Straight Arrow Connector 33"/>
          <p:cNvCxnSpPr>
            <a:stCxn id="3" idx="2"/>
            <a:endCxn id="4" idx="0"/>
          </p:cNvCxnSpPr>
          <p:nvPr/>
        </p:nvCxnSpPr>
        <p:spPr>
          <a:xfrm>
            <a:off x="6096000" y="2000250"/>
            <a:ext cx="0" cy="238125"/>
          </a:xfrm>
          <a:prstGeom prst="straightConnector1">
            <a:avLst/>
          </a:prstGeom>
          <a:ln w="19050">
            <a:solidFill>
              <a:srgbClr val="000000"/>
            </a:solidFill>
            <a:prstDash val="solid"/>
            <a:tailEnd type="triangle" w="sm" len="sm"/>
          </a:ln>
        </p:spPr>
      </p:cxnSp>
      <p:sp>
        <p:nvSpPr>
          <p:cNvPr id="35" name="Rectangle 34">
            <a:extLst>
              <a:ext uri="{FF2B5EF4-FFF2-40B4-BE49-F238E27FC236}">
                <a16:creationId xmlns:a16="http://schemas.microsoft.com/office/drawing/2014/main" id="{144E5BC5-9D70-4FA0-B422-EB4B503E444A}"/>
              </a:ext>
            </a:extLst>
          </p:cNvPr>
          <p:cNvSpPr>
            <a:spLocks noGrp="1"/>
          </p:cNvSpPr>
          <p:nvPr/>
        </p:nvSpPr>
        <p:spPr>
          <a:xfrm>
            <a:off x="419100" y="285750"/>
            <a:ext cx="11353800" cy="952500"/>
          </a:xfrm>
          <a:prstGeom prst="rect">
            <a:avLst/>
          </a:prstGeom>
          <a:noFill/>
          <a:ln w="0">
            <a:noFill/>
          </a:ln>
        </p:spPr>
        <p:txBody>
          <a:bodyPr lIns="0" tIns="0" rIns="0" bIns="0">
            <a:noAutofit/>
          </a:bodyPr>
          <a:lstStyle/>
          <a:p>
            <a:pPr algn="l">
              <a:defRPr sz="5100" b="1">
                <a:solidFill>
                  <a:srgbClr val="000000"/>
                </a:solidFill>
                <a:latin typeface="Times New Roman"/>
                <a:ea typeface="Times New Roman"/>
                <a:cs typeface="Times New Roman"/>
              </a:defRPr>
            </a:pPr>
            <a:r>
              <a:rPr sz="5100" b="1">
                <a:solidFill>
                  <a:srgbClr val="000000"/>
                </a:solidFill>
                <a:latin typeface="Times New Roman"/>
                <a:ea typeface="Times New Roman"/>
                <a:cs typeface="Times New Roman"/>
              </a:rPr>
              <a:t>System Flowchart</a:t>
            </a:r>
          </a:p>
        </p:txBody>
      </p:sp>
      <p:sp>
        <p:nvSpPr>
          <p:cNvPr id="2" name="Rectangle 1">
            <a:extLst>
              <a:ext uri="{FF2B5EF4-FFF2-40B4-BE49-F238E27FC236}">
                <a16:creationId xmlns:a16="http://schemas.microsoft.com/office/drawing/2014/main" id="{5F92DD1F-EEA9-43F6-BD1F-3D4AB34F088A}"/>
              </a:ext>
            </a:extLst>
          </p:cNvPr>
          <p:cNvSpPr>
            <a:spLocks noGrp="1"/>
          </p:cNvSpPr>
          <p:nvPr/>
        </p:nvSpPr>
        <p:spPr>
          <a:xfrm>
            <a:off x="11525250" y="6524625"/>
            <a:ext cx="285750" cy="190500"/>
          </a:xfrm>
          <a:prstGeom prst="rect">
            <a:avLst/>
          </a:prstGeom>
          <a:noFill/>
          <a:ln w="0">
            <a:noFill/>
          </a:ln>
        </p:spPr>
        <p:txBody>
          <a:bodyPr lIns="0" tIns="0" rIns="0" bIns="0">
            <a:noAutofit/>
          </a:bodyPr>
          <a:lstStyle/>
          <a:p>
            <a:pPr algn="r">
              <a:defRPr sz="975" b="0">
                <a:solidFill>
                  <a:srgbClr val="000000"/>
                </a:solidFill>
                <a:latin typeface="Times New Roman"/>
                <a:ea typeface="Times New Roman"/>
                <a:cs typeface="Times New Roman"/>
              </a:defRPr>
            </a:pPr>
            <a:r>
              <a:rPr sz="975" b="0">
                <a:solidFill>
                  <a:srgbClr val="000000"/>
                </a:solidFill>
                <a:latin typeface="Times New Roman"/>
                <a:ea typeface="Times New Roman"/>
                <a:cs typeface="Times New Roman"/>
              </a:rPr>
              <a:t>8</a:t>
            </a:r>
          </a:p>
        </p:txBody>
      </p:sp>
      <p:sp>
        <p:nvSpPr>
          <p:cNvPr id="3" name="Rectangle 2">
            <a:extLst>
              <a:ext uri="{FF2B5EF4-FFF2-40B4-BE49-F238E27FC236}">
                <a16:creationId xmlns:a16="http://schemas.microsoft.com/office/drawing/2014/main" id="{12541A73-E139-4065-BC86-89BFDEE322AF}"/>
              </a:ext>
            </a:extLst>
          </p:cNvPr>
          <p:cNvSpPr>
            <a:spLocks noGrp="1"/>
          </p:cNvSpPr>
          <p:nvPr/>
        </p:nvSpPr>
        <p:spPr>
          <a:xfrm>
            <a:off x="4286250" y="1476375"/>
            <a:ext cx="3619500" cy="523875"/>
          </a:xfrm>
          <a:prstGeom prst="rect">
            <a:avLst/>
          </a:prstGeom>
          <a:solidFill>
            <a:srgbClr val="FFFFFF"/>
          </a:solidFill>
          <a:ln w="14288">
            <a:solidFill>
              <a:srgbClr val="000000"/>
            </a:solidFill>
          </a:ln>
        </p:spPr>
        <p:txBody>
          <a:bodyPr lIns="76200" tIns="76200" rIns="76200" bIns="76200" anchor="ctr"/>
          <a:lstStyle/>
          <a:p>
            <a:pPr algn="ctr">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Read both probes</a:t>
            </a:r>
          </a:p>
        </p:txBody>
      </p:sp>
      <p:sp>
        <p:nvSpPr>
          <p:cNvPr id="4" name="Rectangle 3">
            <a:extLst>
              <a:ext uri="{FF2B5EF4-FFF2-40B4-BE49-F238E27FC236}">
                <a16:creationId xmlns:a16="http://schemas.microsoft.com/office/drawing/2014/main" id="{2DBF8A10-043E-41B8-8524-ECEA7282CBD9}"/>
              </a:ext>
            </a:extLst>
          </p:cNvPr>
          <p:cNvSpPr>
            <a:spLocks noGrp="1"/>
          </p:cNvSpPr>
          <p:nvPr/>
        </p:nvSpPr>
        <p:spPr>
          <a:xfrm>
            <a:off x="4286250" y="2238375"/>
            <a:ext cx="3619500" cy="619125"/>
          </a:xfrm>
          <a:prstGeom prst="rect">
            <a:avLst/>
          </a:prstGeom>
          <a:solidFill>
            <a:srgbClr val="FFFFFF"/>
          </a:solidFill>
          <a:ln w="14288">
            <a:solidFill>
              <a:srgbClr val="000000"/>
            </a:solidFill>
          </a:ln>
        </p:spPr>
        <p:txBody>
          <a:bodyPr lIns="76200" tIns="76200" rIns="76200" bIns="76200" anchor="ctr"/>
          <a:lstStyle/>
          <a:p>
            <a:pPr algn="ctr">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3 consecutive invalid reads?</a:t>
            </a:r>
          </a:p>
        </p:txBody>
      </p:sp>
      <p:sp>
        <p:nvSpPr>
          <p:cNvPr id="5" name="Rectangle 4">
            <a:extLst>
              <a:ext uri="{FF2B5EF4-FFF2-40B4-BE49-F238E27FC236}">
                <a16:creationId xmlns:a16="http://schemas.microsoft.com/office/drawing/2014/main" id="{249CABD4-3E7C-4A6C-AC87-F2FC8C0458B0}"/>
              </a:ext>
            </a:extLst>
          </p:cNvPr>
          <p:cNvSpPr>
            <a:spLocks noGrp="1"/>
          </p:cNvSpPr>
          <p:nvPr/>
        </p:nvSpPr>
        <p:spPr>
          <a:xfrm>
            <a:off x="8667750" y="2238375"/>
            <a:ext cx="2857500" cy="619125"/>
          </a:xfrm>
          <a:prstGeom prst="rect">
            <a:avLst/>
          </a:prstGeom>
          <a:solidFill>
            <a:srgbClr val="FFFFFF"/>
          </a:solidFill>
          <a:ln w="14288">
            <a:solidFill>
              <a:srgbClr val="000000"/>
            </a:solidFill>
          </a:ln>
        </p:spPr>
        <p:txBody>
          <a:bodyPr lIns="76200" tIns="76200" rIns="76200" bIns="76200" anchor="ctr"/>
          <a:lstStyle/>
          <a:p>
            <a:pPr algn="ctr">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FAULT</a:t>
            </a:r>
          </a:p>
          <a:p>
            <a:pPr algn="ctr">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Exhaust ON, alarm</a:t>
            </a:r>
          </a:p>
        </p:txBody>
      </p:sp>
      <p:sp>
        <p:nvSpPr>
          <p:cNvPr id="6" name="Rectangle 5">
            <a:extLst>
              <a:ext uri="{FF2B5EF4-FFF2-40B4-BE49-F238E27FC236}">
                <a16:creationId xmlns:a16="http://schemas.microsoft.com/office/drawing/2014/main" id="{B854BDAF-B704-445E-B82C-843B720F9C3F}"/>
              </a:ext>
            </a:extLst>
          </p:cNvPr>
          <p:cNvSpPr>
            <a:spLocks noGrp="1"/>
          </p:cNvSpPr>
          <p:nvPr/>
        </p:nvSpPr>
        <p:spPr>
          <a:xfrm>
            <a:off x="4286250" y="3238500"/>
            <a:ext cx="3619500" cy="619125"/>
          </a:xfrm>
          <a:prstGeom prst="rect">
            <a:avLst/>
          </a:prstGeom>
          <a:solidFill>
            <a:srgbClr val="FFFFFF"/>
          </a:solidFill>
          <a:ln w="14288">
            <a:solidFill>
              <a:srgbClr val="000000"/>
            </a:solidFill>
          </a:ln>
        </p:spPr>
        <p:txBody>
          <a:bodyPr lIns="76200" tIns="76200" rIns="76200" bIns="76200" anchor="ctr"/>
          <a:lstStyle/>
          <a:p>
            <a:pPr algn="ctr">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Apply 80 / 77 °F hysteresis</a:t>
            </a:r>
          </a:p>
        </p:txBody>
      </p:sp>
      <p:sp>
        <p:nvSpPr>
          <p:cNvPr id="7" name="Rectangle 6">
            <a:extLst>
              <a:ext uri="{FF2B5EF4-FFF2-40B4-BE49-F238E27FC236}">
                <a16:creationId xmlns:a16="http://schemas.microsoft.com/office/drawing/2014/main" id="{22BC629E-EA20-4E71-8A28-DE450CDCBD1F}"/>
              </a:ext>
            </a:extLst>
          </p:cNvPr>
          <p:cNvSpPr>
            <a:spLocks noGrp="1"/>
          </p:cNvSpPr>
          <p:nvPr/>
        </p:nvSpPr>
        <p:spPr>
          <a:xfrm>
            <a:off x="647700" y="3238500"/>
            <a:ext cx="2762250" cy="619125"/>
          </a:xfrm>
          <a:prstGeom prst="rect">
            <a:avLst/>
          </a:prstGeom>
          <a:solidFill>
            <a:srgbClr val="FFFFFF"/>
          </a:solidFill>
          <a:ln w="14288">
            <a:solidFill>
              <a:srgbClr val="000000"/>
            </a:solidFill>
          </a:ln>
        </p:spPr>
        <p:txBody>
          <a:bodyPr lIns="76200" tIns="76200" rIns="76200" bIns="76200" anchor="ctr"/>
          <a:lstStyle/>
          <a:p>
            <a:pPr algn="ctr">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STANDBY</a:t>
            </a:r>
          </a:p>
          <a:p>
            <a:pPr algn="ctr">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Both fans OFF</a:t>
            </a:r>
          </a:p>
        </p:txBody>
      </p:sp>
      <p:sp>
        <p:nvSpPr>
          <p:cNvPr id="8" name="Rectangle 7">
            <a:extLst>
              <a:ext uri="{FF2B5EF4-FFF2-40B4-BE49-F238E27FC236}">
                <a16:creationId xmlns:a16="http://schemas.microsoft.com/office/drawing/2014/main" id="{1853E332-7A07-46E2-9BD0-75C2CD3501F4}"/>
              </a:ext>
            </a:extLst>
          </p:cNvPr>
          <p:cNvSpPr>
            <a:spLocks noGrp="1"/>
          </p:cNvSpPr>
          <p:nvPr/>
        </p:nvSpPr>
        <p:spPr>
          <a:xfrm>
            <a:off x="4286250" y="4238625"/>
            <a:ext cx="3619500" cy="619125"/>
          </a:xfrm>
          <a:prstGeom prst="rect">
            <a:avLst/>
          </a:prstGeom>
          <a:solidFill>
            <a:srgbClr val="FFFFFF"/>
          </a:solidFill>
          <a:ln w="14288">
            <a:solidFill>
              <a:srgbClr val="000000"/>
            </a:solidFill>
          </a:ln>
        </p:spPr>
        <p:txBody>
          <a:bodyPr lIns="76200" tIns="76200" rIns="76200" bIns="76200" anchor="ctr"/>
          <a:lstStyle/>
          <a:p>
            <a:pPr algn="ctr">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Compare inside and outside</a:t>
            </a:r>
          </a:p>
        </p:txBody>
      </p:sp>
      <p:sp>
        <p:nvSpPr>
          <p:cNvPr id="9" name="Rectangle 8">
            <a:extLst>
              <a:ext uri="{FF2B5EF4-FFF2-40B4-BE49-F238E27FC236}">
                <a16:creationId xmlns:a16="http://schemas.microsoft.com/office/drawing/2014/main" id="{6E9D4E95-85DD-4BEF-B575-28A6EADA5A31}"/>
              </a:ext>
            </a:extLst>
          </p:cNvPr>
          <p:cNvSpPr>
            <a:spLocks noGrp="1"/>
          </p:cNvSpPr>
          <p:nvPr/>
        </p:nvSpPr>
        <p:spPr>
          <a:xfrm>
            <a:off x="647700" y="5381625"/>
            <a:ext cx="2857500" cy="619125"/>
          </a:xfrm>
          <a:prstGeom prst="rect">
            <a:avLst/>
          </a:prstGeom>
          <a:solidFill>
            <a:srgbClr val="FFFFFF"/>
          </a:solidFill>
          <a:ln w="14288">
            <a:solidFill>
              <a:srgbClr val="000000"/>
            </a:solidFill>
          </a:ln>
        </p:spPr>
        <p:txBody>
          <a:bodyPr lIns="76200" tIns="76200" rIns="76200" bIns="76200" anchor="ctr"/>
          <a:lstStyle/>
          <a:p>
            <a:pPr algn="ctr">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CROSS_VENT</a:t>
            </a:r>
          </a:p>
          <a:p>
            <a:pPr algn="ctr">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Both fans ON</a:t>
            </a:r>
          </a:p>
        </p:txBody>
      </p:sp>
      <p:sp>
        <p:nvSpPr>
          <p:cNvPr id="10" name="Rectangle 9">
            <a:extLst>
              <a:ext uri="{FF2B5EF4-FFF2-40B4-BE49-F238E27FC236}">
                <a16:creationId xmlns:a16="http://schemas.microsoft.com/office/drawing/2014/main" id="{D5A24D1B-0629-41EB-8A5F-9554287A16F3}"/>
              </a:ext>
            </a:extLst>
          </p:cNvPr>
          <p:cNvSpPr>
            <a:spLocks noGrp="1"/>
          </p:cNvSpPr>
          <p:nvPr/>
        </p:nvSpPr>
        <p:spPr>
          <a:xfrm>
            <a:off x="4667250" y="5381625"/>
            <a:ext cx="2857500" cy="619125"/>
          </a:xfrm>
          <a:prstGeom prst="rect">
            <a:avLst/>
          </a:prstGeom>
          <a:solidFill>
            <a:srgbClr val="FFFFFF"/>
          </a:solidFill>
          <a:ln w="14288">
            <a:solidFill>
              <a:srgbClr val="000000"/>
            </a:solidFill>
          </a:ln>
        </p:spPr>
        <p:txBody>
          <a:bodyPr lIns="76200" tIns="76200" rIns="76200" bIns="76200" anchor="ctr"/>
          <a:lstStyle/>
          <a:p>
            <a:pPr algn="ctr">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EXHAUST_ONLY</a:t>
            </a:r>
          </a:p>
          <a:p>
            <a:pPr algn="ctr">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Exhaust ON</a:t>
            </a:r>
          </a:p>
        </p:txBody>
      </p:sp>
      <p:sp>
        <p:nvSpPr>
          <p:cNvPr id="11" name="Rectangle 10">
            <a:extLst>
              <a:ext uri="{FF2B5EF4-FFF2-40B4-BE49-F238E27FC236}">
                <a16:creationId xmlns:a16="http://schemas.microsoft.com/office/drawing/2014/main" id="{943BFA0F-EB04-434D-BDED-C45E76C790AA}"/>
              </a:ext>
            </a:extLst>
          </p:cNvPr>
          <p:cNvSpPr>
            <a:spLocks noGrp="1"/>
          </p:cNvSpPr>
          <p:nvPr/>
        </p:nvSpPr>
        <p:spPr>
          <a:xfrm>
            <a:off x="8667750" y="5381625"/>
            <a:ext cx="2857500" cy="619125"/>
          </a:xfrm>
          <a:prstGeom prst="rect">
            <a:avLst/>
          </a:prstGeom>
          <a:solidFill>
            <a:srgbClr val="FFFFFF"/>
          </a:solidFill>
          <a:ln w="14288">
            <a:solidFill>
              <a:srgbClr val="000000"/>
            </a:solidFill>
          </a:ln>
        </p:spPr>
        <p:txBody>
          <a:bodyPr lIns="76200" tIns="76200" rIns="76200" bIns="76200" anchor="ctr"/>
          <a:lstStyle/>
          <a:p>
            <a:pPr algn="ctr">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SEALED</a:t>
            </a:r>
          </a:p>
          <a:p>
            <a:pPr algn="ctr">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Both fans OFF</a:t>
            </a:r>
          </a:p>
        </p:txBody>
      </p:sp>
      <p:sp>
        <p:nvSpPr>
          <p:cNvPr id="20" name="Rectangle 19">
            <a:extLst>
              <a:ext uri="{FF2B5EF4-FFF2-40B4-BE49-F238E27FC236}">
                <a16:creationId xmlns:a16="http://schemas.microsoft.com/office/drawing/2014/main" id="{02A1D47A-A79C-4C38-A39F-5560852B6055}"/>
              </a:ext>
            </a:extLst>
          </p:cNvPr>
          <p:cNvSpPr>
            <a:spLocks noGrp="1"/>
          </p:cNvSpPr>
          <p:nvPr/>
        </p:nvSpPr>
        <p:spPr>
          <a:xfrm>
            <a:off x="8001000" y="1905000"/>
            <a:ext cx="762000" cy="304800"/>
          </a:xfrm>
          <a:prstGeom prst="rect">
            <a:avLst/>
          </a:prstGeom>
          <a:noFill/>
          <a:ln w="0">
            <a:noFill/>
          </a:ln>
        </p:spPr>
        <p:txBody>
          <a:bodyPr lIns="0" tIns="0" rIns="0" bIns="0">
            <a:noAutofit/>
          </a:bodyPr>
          <a:lstStyle/>
          <a:p>
            <a:pPr algn="l">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YES</a:t>
            </a:r>
          </a:p>
        </p:txBody>
      </p:sp>
      <p:sp>
        <p:nvSpPr>
          <p:cNvPr id="21" name="Rectangle 20">
            <a:extLst>
              <a:ext uri="{FF2B5EF4-FFF2-40B4-BE49-F238E27FC236}">
                <a16:creationId xmlns:a16="http://schemas.microsoft.com/office/drawing/2014/main" id="{E49D9E81-69D3-41F4-A900-AB7E5C6D98DF}"/>
              </a:ext>
            </a:extLst>
          </p:cNvPr>
          <p:cNvSpPr>
            <a:spLocks noGrp="1"/>
          </p:cNvSpPr>
          <p:nvPr/>
        </p:nvSpPr>
        <p:spPr>
          <a:xfrm>
            <a:off x="6334125" y="2924175"/>
            <a:ext cx="762000" cy="304800"/>
          </a:xfrm>
          <a:prstGeom prst="rect">
            <a:avLst/>
          </a:prstGeom>
          <a:noFill/>
          <a:ln w="0">
            <a:noFill/>
          </a:ln>
        </p:spPr>
        <p:txBody>
          <a:bodyPr lIns="0" tIns="0" rIns="0" bIns="0">
            <a:noAutofit/>
          </a:bodyPr>
          <a:lstStyle/>
          <a:p>
            <a:pPr algn="l">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NO</a:t>
            </a:r>
          </a:p>
        </p:txBody>
      </p:sp>
      <p:sp>
        <p:nvSpPr>
          <p:cNvPr id="22" name="Rectangle 21">
            <a:extLst>
              <a:ext uri="{FF2B5EF4-FFF2-40B4-BE49-F238E27FC236}">
                <a16:creationId xmlns:a16="http://schemas.microsoft.com/office/drawing/2014/main" id="{317EACBA-4056-4B47-A87D-F5CDC339AE1F}"/>
              </a:ext>
            </a:extLst>
          </p:cNvPr>
          <p:cNvSpPr>
            <a:spLocks noGrp="1"/>
          </p:cNvSpPr>
          <p:nvPr/>
        </p:nvSpPr>
        <p:spPr>
          <a:xfrm>
            <a:off x="647700" y="2924175"/>
            <a:ext cx="2857500" cy="304800"/>
          </a:xfrm>
          <a:prstGeom prst="rect">
            <a:avLst/>
          </a:prstGeom>
          <a:noFill/>
          <a:ln w="0">
            <a:noFill/>
          </a:ln>
        </p:spPr>
        <p:txBody>
          <a:bodyPr lIns="0" tIns="0" rIns="0" bIns="0">
            <a:noAutofit/>
          </a:bodyPr>
          <a:lstStyle/>
          <a:p>
            <a:pPr algn="l">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No heat demand</a:t>
            </a:r>
          </a:p>
        </p:txBody>
      </p:sp>
      <p:sp>
        <p:nvSpPr>
          <p:cNvPr id="23" name="Rectangle 22">
            <a:extLst>
              <a:ext uri="{FF2B5EF4-FFF2-40B4-BE49-F238E27FC236}">
                <a16:creationId xmlns:a16="http://schemas.microsoft.com/office/drawing/2014/main" id="{2ED8A60B-8F3B-4093-9C9C-F680DF35F25C}"/>
              </a:ext>
            </a:extLst>
          </p:cNvPr>
          <p:cNvSpPr>
            <a:spLocks noGrp="1"/>
          </p:cNvSpPr>
          <p:nvPr/>
        </p:nvSpPr>
        <p:spPr>
          <a:xfrm>
            <a:off x="649224" y="6071616"/>
            <a:ext cx="3236976" cy="301752"/>
          </a:xfrm>
          <a:prstGeom prst="rect">
            <a:avLst/>
          </a:prstGeom>
          <a:noFill/>
          <a:ln w="0">
            <a:noFill/>
          </a:ln>
        </p:spPr>
        <p:txBody>
          <a:bodyPr lIns="0" tIns="0" rIns="0" bIns="0">
            <a:noAutofit/>
          </a:bodyPr>
          <a:lstStyle/>
          <a:p>
            <a:pPr algn="l">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 2 °F cooler</a:t>
            </a:r>
          </a:p>
        </p:txBody>
      </p:sp>
      <p:sp>
        <p:nvSpPr>
          <p:cNvPr id="24" name="Rectangle 23">
            <a:extLst>
              <a:ext uri="{FF2B5EF4-FFF2-40B4-BE49-F238E27FC236}">
                <a16:creationId xmlns:a16="http://schemas.microsoft.com/office/drawing/2014/main" id="{25A3E740-C932-4A6E-B44A-8625F209348E}"/>
              </a:ext>
            </a:extLst>
          </p:cNvPr>
          <p:cNvSpPr>
            <a:spLocks noGrp="1"/>
          </p:cNvSpPr>
          <p:nvPr/>
        </p:nvSpPr>
        <p:spPr>
          <a:xfrm>
            <a:off x="4526280" y="6071616"/>
            <a:ext cx="3621024" cy="301752"/>
          </a:xfrm>
          <a:prstGeom prst="rect">
            <a:avLst/>
          </a:prstGeom>
          <a:noFill/>
          <a:ln w="0">
            <a:noFill/>
          </a:ln>
        </p:spPr>
        <p:txBody>
          <a:bodyPr lIns="0" tIns="0" rIns="0" bIns="0">
            <a:noAutofit/>
          </a:bodyPr>
          <a:lstStyle/>
          <a:p>
            <a:pPr algn="l">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Similar temperatures</a:t>
            </a:r>
          </a:p>
        </p:txBody>
      </p:sp>
      <p:sp>
        <p:nvSpPr>
          <p:cNvPr id="25" name="Rectangle 24">
            <a:extLst>
              <a:ext uri="{FF2B5EF4-FFF2-40B4-BE49-F238E27FC236}">
                <a16:creationId xmlns:a16="http://schemas.microsoft.com/office/drawing/2014/main" id="{7CE0BA08-41F6-4111-8B3B-622801F8CA9A}"/>
              </a:ext>
            </a:extLst>
          </p:cNvPr>
          <p:cNvSpPr>
            <a:spLocks noGrp="1"/>
          </p:cNvSpPr>
          <p:nvPr/>
        </p:nvSpPr>
        <p:spPr>
          <a:xfrm>
            <a:off x="8668512" y="6071616"/>
            <a:ext cx="2953512" cy="301752"/>
          </a:xfrm>
          <a:prstGeom prst="rect">
            <a:avLst/>
          </a:prstGeom>
          <a:noFill/>
          <a:ln w="0">
            <a:noFill/>
          </a:ln>
        </p:spPr>
        <p:txBody>
          <a:bodyPr lIns="0" tIns="0" rIns="0" bIns="0">
            <a:noAutofit/>
          </a:bodyPr>
          <a:lstStyle/>
          <a:p>
            <a:pPr algn="l">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 3 °F hotter</a:t>
            </a:r>
          </a:p>
        </p:txBody>
      </p:sp>
      <p:sp>
        <p:nvSpPr>
          <p:cNvPr id="26" name="Rectangle 25">
            <a:extLst>
              <a:ext uri="{FF2B5EF4-FFF2-40B4-BE49-F238E27FC236}">
                <a16:creationId xmlns:a16="http://schemas.microsoft.com/office/drawing/2014/main" id="{7DD756A1-C68E-46B0-8070-4E8F76BC2F97}"/>
              </a:ext>
            </a:extLst>
          </p:cNvPr>
          <p:cNvSpPr>
            <a:spLocks noGrp="1"/>
          </p:cNvSpPr>
          <p:nvPr/>
        </p:nvSpPr>
        <p:spPr>
          <a:xfrm>
            <a:off x="649224" y="6446520"/>
            <a:ext cx="10835640" cy="301752"/>
          </a:xfrm>
          <a:prstGeom prst="rect">
            <a:avLst/>
          </a:prstGeom>
          <a:noFill/>
          <a:ln w="0">
            <a:noFill/>
          </a:ln>
        </p:spPr>
        <p:txBody>
          <a:bodyPr lIns="0" tIns="0" rIns="0" bIns="0">
            <a:noAutofit/>
          </a:bodyPr>
          <a:lstStyle/>
          <a:p>
            <a:pPr algn="l">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Repeat each sensor period. Normal control uses hysteresis and a 10 s dwell.</a:t>
            </a:r>
          </a:p>
        </p:txBody>
      </p:sp>
    </p:spTree>
    <p:extLst>
      <p:ext uri="{BB962C8B-B14F-4D97-AF65-F5344CB8AC3E}">
        <p14:creationId xmlns:p14="http://schemas.microsoft.com/office/powerpoint/2010/main" val="10597884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AF30BBE-9C36-4AFE-AB8D-413D1BE89AE3}"/>
              </a:ext>
            </a:extLst>
          </p:cNvPr>
          <p:cNvSpPr>
            <a:spLocks noGrp="1"/>
          </p:cNvSpPr>
          <p:nvPr/>
        </p:nvSpPr>
        <p:spPr>
          <a:xfrm>
            <a:off x="419100" y="285750"/>
            <a:ext cx="11353800" cy="952500"/>
          </a:xfrm>
          <a:prstGeom prst="rect">
            <a:avLst/>
          </a:prstGeom>
          <a:noFill/>
          <a:ln w="0">
            <a:noFill/>
          </a:ln>
        </p:spPr>
        <p:txBody>
          <a:bodyPr lIns="0" tIns="0" rIns="0" bIns="0">
            <a:noAutofit/>
          </a:bodyPr>
          <a:lstStyle/>
          <a:p>
            <a:pPr algn="l">
              <a:defRPr sz="5100" b="1">
                <a:solidFill>
                  <a:srgbClr val="000000"/>
                </a:solidFill>
                <a:latin typeface="Times New Roman"/>
                <a:ea typeface="Times New Roman"/>
                <a:cs typeface="Times New Roman"/>
              </a:defRPr>
            </a:pPr>
            <a:r>
              <a:rPr sz="5100" b="1">
                <a:solidFill>
                  <a:srgbClr val="000000"/>
                </a:solidFill>
                <a:latin typeface="Times New Roman"/>
                <a:ea typeface="Times New Roman"/>
                <a:cs typeface="Times New Roman"/>
              </a:rPr>
              <a:t>System Schematic</a:t>
            </a:r>
          </a:p>
        </p:txBody>
      </p:sp>
      <p:sp>
        <p:nvSpPr>
          <p:cNvPr id="2" name="Rectangle 1">
            <a:extLst>
              <a:ext uri="{FF2B5EF4-FFF2-40B4-BE49-F238E27FC236}">
                <a16:creationId xmlns:a16="http://schemas.microsoft.com/office/drawing/2014/main" id="{C99F845C-B1A6-4E02-B46A-17746FC123B5}"/>
              </a:ext>
            </a:extLst>
          </p:cNvPr>
          <p:cNvSpPr>
            <a:spLocks noGrp="1"/>
          </p:cNvSpPr>
          <p:nvPr/>
        </p:nvSpPr>
        <p:spPr>
          <a:xfrm>
            <a:off x="11525250" y="6524625"/>
            <a:ext cx="285750" cy="190500"/>
          </a:xfrm>
          <a:prstGeom prst="rect">
            <a:avLst/>
          </a:prstGeom>
          <a:noFill/>
          <a:ln w="0">
            <a:noFill/>
          </a:ln>
        </p:spPr>
        <p:txBody>
          <a:bodyPr lIns="0" tIns="0" rIns="0" bIns="0">
            <a:noAutofit/>
          </a:bodyPr>
          <a:lstStyle/>
          <a:p>
            <a:pPr algn="r">
              <a:defRPr sz="975" b="0">
                <a:solidFill>
                  <a:srgbClr val="000000"/>
                </a:solidFill>
                <a:latin typeface="Times New Roman"/>
                <a:ea typeface="Times New Roman"/>
                <a:cs typeface="Times New Roman"/>
              </a:defRPr>
            </a:pPr>
            <a:r>
              <a:rPr sz="975" b="0">
                <a:solidFill>
                  <a:srgbClr val="000000"/>
                </a:solidFill>
                <a:latin typeface="Times New Roman"/>
                <a:ea typeface="Times New Roman"/>
                <a:cs typeface="Times New Roman"/>
              </a:rPr>
              <a:t>9</a:t>
            </a:r>
          </a:p>
        </p:txBody>
      </p:sp>
      <p:pic>
        <p:nvPicPr>
          <p:cNvPr id="7" name="Picture 6"/>
          <p:cNvPicPr>
            <a:picLocks noChangeAspect="1"/>
          </p:cNvPicPr>
          <p:nvPr/>
        </p:nvPicPr>
        <p:blipFill>
          <a:blip r:embed="rId3"/>
          <a:stretch/>
        </p:blipFill>
        <p:spPr>
          <a:xfrm>
            <a:off x="420624" y="1371600"/>
            <a:ext cx="11338560" cy="4676273"/>
          </a:xfrm>
          <a:prstGeom prst="rect">
            <a:avLst/>
          </a:prstGeom>
        </p:spPr>
      </p:pic>
      <p:sp>
        <p:nvSpPr>
          <p:cNvPr id="4" name="Rectangle 3">
            <a:extLst>
              <a:ext uri="{FF2B5EF4-FFF2-40B4-BE49-F238E27FC236}">
                <a16:creationId xmlns:a16="http://schemas.microsoft.com/office/drawing/2014/main" id="{9F7E3B72-4226-4B2B-8C21-CFE3C5589CCB}"/>
              </a:ext>
            </a:extLst>
          </p:cNvPr>
          <p:cNvSpPr>
            <a:spLocks noGrp="1"/>
          </p:cNvSpPr>
          <p:nvPr/>
        </p:nvSpPr>
        <p:spPr>
          <a:xfrm>
            <a:off x="649224" y="6172200"/>
            <a:ext cx="10899648" cy="329184"/>
          </a:xfrm>
          <a:prstGeom prst="rect">
            <a:avLst/>
          </a:prstGeom>
          <a:noFill/>
          <a:ln w="0">
            <a:noFill/>
          </a:ln>
        </p:spPr>
        <p:txBody>
          <a:bodyPr lIns="0" tIns="0" rIns="0" bIns="0">
            <a:noAutofit/>
          </a:bodyPr>
          <a:lstStyle/>
          <a:p>
            <a:pPr algn="l">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Current ESP32 design: two probes, three OLEDs and an active-low buzzer.</a:t>
            </a:r>
          </a:p>
        </p:txBody>
      </p:sp>
    </p:spTree>
    <p:extLst>
      <p:ext uri="{BB962C8B-B14F-4D97-AF65-F5344CB8AC3E}">
        <p14:creationId xmlns:p14="http://schemas.microsoft.com/office/powerpoint/2010/main" val="9330702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04CD9CF-290C-45F8-95D4-509D5125E1B0}"/>
              </a:ext>
            </a:extLst>
          </p:cNvPr>
          <p:cNvSpPr>
            <a:spLocks noGrp="1"/>
          </p:cNvSpPr>
          <p:nvPr/>
        </p:nvSpPr>
        <p:spPr>
          <a:xfrm>
            <a:off x="419100" y="285750"/>
            <a:ext cx="11353800" cy="952500"/>
          </a:xfrm>
          <a:prstGeom prst="rect">
            <a:avLst/>
          </a:prstGeom>
          <a:noFill/>
          <a:ln w="0">
            <a:noFill/>
          </a:ln>
        </p:spPr>
        <p:txBody>
          <a:bodyPr lIns="0" tIns="0" rIns="0" bIns="0">
            <a:noAutofit/>
          </a:bodyPr>
          <a:lstStyle/>
          <a:p>
            <a:pPr algn="l">
              <a:defRPr sz="5100" b="1">
                <a:solidFill>
                  <a:srgbClr val="000000"/>
                </a:solidFill>
                <a:latin typeface="Times New Roman"/>
                <a:ea typeface="Times New Roman"/>
                <a:cs typeface="Times New Roman"/>
              </a:defRPr>
            </a:pPr>
            <a:r>
              <a:rPr sz="5100" b="1">
                <a:solidFill>
                  <a:srgbClr val="000000"/>
                </a:solidFill>
                <a:latin typeface="Times New Roman"/>
                <a:ea typeface="Times New Roman"/>
                <a:cs typeface="Times New Roman"/>
              </a:rPr>
              <a:t>Completed System and Test Results</a:t>
            </a:r>
          </a:p>
        </p:txBody>
      </p:sp>
      <p:sp>
        <p:nvSpPr>
          <p:cNvPr id="2" name="Rectangle 1">
            <a:extLst>
              <a:ext uri="{FF2B5EF4-FFF2-40B4-BE49-F238E27FC236}">
                <a16:creationId xmlns:a16="http://schemas.microsoft.com/office/drawing/2014/main" id="{DAFEF6E6-9A9E-4B54-8C2D-C25538BBF936}"/>
              </a:ext>
            </a:extLst>
          </p:cNvPr>
          <p:cNvSpPr>
            <a:spLocks noGrp="1"/>
          </p:cNvSpPr>
          <p:nvPr/>
        </p:nvSpPr>
        <p:spPr>
          <a:xfrm>
            <a:off x="11525250" y="6524625"/>
            <a:ext cx="285750" cy="190500"/>
          </a:xfrm>
          <a:prstGeom prst="rect">
            <a:avLst/>
          </a:prstGeom>
          <a:noFill/>
          <a:ln w="0">
            <a:noFill/>
          </a:ln>
        </p:spPr>
        <p:txBody>
          <a:bodyPr lIns="0" tIns="0" rIns="0" bIns="0">
            <a:noAutofit/>
          </a:bodyPr>
          <a:lstStyle/>
          <a:p>
            <a:pPr algn="r">
              <a:defRPr sz="975" b="0">
                <a:solidFill>
                  <a:srgbClr val="000000"/>
                </a:solidFill>
                <a:latin typeface="Times New Roman"/>
                <a:ea typeface="Times New Roman"/>
                <a:cs typeface="Times New Roman"/>
              </a:defRPr>
            </a:pPr>
            <a:r>
              <a:rPr sz="975" b="0">
                <a:solidFill>
                  <a:srgbClr val="000000"/>
                </a:solidFill>
                <a:latin typeface="Times New Roman"/>
                <a:ea typeface="Times New Roman"/>
                <a:cs typeface="Times New Roman"/>
              </a:rPr>
              <a:t>10</a:t>
            </a:r>
          </a:p>
        </p:txBody>
      </p:sp>
      <p:graphicFrame>
        <p:nvGraphicFramePr>
          <p:cNvPr id="7" name="Table 6"/>
          <p:cNvGraphicFramePr/>
          <p:nvPr/>
        </p:nvGraphicFramePr>
        <p:xfrm>
          <a:off x="4636008" y="1572768"/>
          <a:ext cx="7132320" cy="3712464"/>
        </p:xfrm>
        <a:graphic>
          <a:graphicData uri="http://schemas.openxmlformats.org/drawingml/2006/table">
            <a:tbl>
              <a:tblPr/>
              <a:tblGrid>
                <a:gridCol w="32004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530679">
                <a:tc>
                  <a:txBody>
                    <a:bodyPr/>
                    <a:lstStyle/>
                    <a:p>
                      <a:r>
                        <a:rPr sz="1875" b="1">
                          <a:solidFill>
                            <a:srgbClr val="000000"/>
                          </a:solidFill>
                          <a:latin typeface="Times New Roman"/>
                          <a:ea typeface="Times New Roman"/>
                          <a:cs typeface="Times New Roman"/>
                        </a:rPr>
                        <a:t>Test</a:t>
                      </a:r>
                    </a:p>
                  </a:txBody>
                  <a:tcPr>
                    <a:solidFill>
                      <a:srgbClr val="FFFFFF"/>
                    </a:solidFill>
                  </a:tcPr>
                </a:tc>
                <a:tc>
                  <a:txBody>
                    <a:bodyPr/>
                    <a:lstStyle/>
                    <a:p>
                      <a:r>
                        <a:rPr sz="1875" b="1">
                          <a:solidFill>
                            <a:srgbClr val="000000"/>
                          </a:solidFill>
                          <a:latin typeface="Times New Roman"/>
                          <a:ea typeface="Times New Roman"/>
                          <a:cs typeface="Times New Roman"/>
                        </a:rPr>
                        <a:t>Measured result</a:t>
                      </a:r>
                    </a:p>
                  </a:txBody>
                  <a:tcPr>
                    <a:solidFill>
                      <a:srgbClr val="FFFFFF"/>
                    </a:solidFill>
                  </a:tcPr>
                </a:tc>
                <a:extLst>
                  <a:ext uri="{0D108BD9-81ED-4DB2-BD59-A6C34878D82A}">
                    <a16:rowId xmlns:a16="http://schemas.microsoft.com/office/drawing/2014/main" val="10000"/>
                  </a:ext>
                </a:extLst>
              </a:tr>
              <a:tr h="530679">
                <a:tc>
                  <a:txBody>
                    <a:bodyPr/>
                    <a:lstStyle/>
                    <a:p>
                      <a:r>
                        <a:rPr sz="1875" b="1">
                          <a:solidFill>
                            <a:srgbClr val="000000"/>
                          </a:solidFill>
                          <a:latin typeface="Times New Roman"/>
                          <a:ea typeface="Times New Roman"/>
                          <a:cs typeface="Times New Roman"/>
                        </a:rPr>
                        <a:t>72 / 65 °F inside / outside</a:t>
                      </a:r>
                    </a:p>
                  </a:txBody>
                  <a:tcPr>
                    <a:solidFill>
                      <a:srgbClr val="FFFFFF"/>
                    </a:solidFill>
                  </a:tcPr>
                </a:tc>
                <a:tc>
                  <a:txBody>
                    <a:bodyPr/>
                    <a:lstStyle/>
                    <a:p>
                      <a:r>
                        <a:rPr sz="1875" b="1">
                          <a:solidFill>
                            <a:srgbClr val="000000"/>
                          </a:solidFill>
                          <a:latin typeface="Times New Roman"/>
                          <a:ea typeface="Times New Roman"/>
                          <a:cs typeface="Times New Roman"/>
                        </a:rPr>
                        <a:t>STANDBY, both fans OFF</a:t>
                      </a:r>
                    </a:p>
                  </a:txBody>
                  <a:tcPr>
                    <a:solidFill>
                      <a:srgbClr val="FFFFFF"/>
                    </a:solidFill>
                  </a:tcPr>
                </a:tc>
                <a:extLst>
                  <a:ext uri="{0D108BD9-81ED-4DB2-BD59-A6C34878D82A}">
                    <a16:rowId xmlns:a16="http://schemas.microsoft.com/office/drawing/2014/main" val="10001"/>
                  </a:ext>
                </a:extLst>
              </a:tr>
              <a:tr h="530679">
                <a:tc>
                  <a:txBody>
                    <a:bodyPr/>
                    <a:lstStyle/>
                    <a:p>
                      <a:r>
                        <a:rPr sz="1875" b="1">
                          <a:solidFill>
                            <a:srgbClr val="000000"/>
                          </a:solidFill>
                          <a:latin typeface="Times New Roman"/>
                          <a:ea typeface="Times New Roman"/>
                          <a:cs typeface="Times New Roman"/>
                        </a:rPr>
                        <a:t>85 / 65 °F</a:t>
                      </a:r>
                    </a:p>
                  </a:txBody>
                  <a:tcPr>
                    <a:solidFill>
                      <a:srgbClr val="FFFFFF"/>
                    </a:solidFill>
                  </a:tcPr>
                </a:tc>
                <a:tc>
                  <a:txBody>
                    <a:bodyPr/>
                    <a:lstStyle/>
                    <a:p>
                      <a:r>
                        <a:rPr sz="1875" b="1">
                          <a:solidFill>
                            <a:srgbClr val="000000"/>
                          </a:solidFill>
                          <a:latin typeface="Times New Roman"/>
                          <a:ea typeface="Times New Roman"/>
                          <a:cs typeface="Times New Roman"/>
                        </a:rPr>
                        <a:t>CROSS_VENT, both fans ON</a:t>
                      </a:r>
                    </a:p>
                  </a:txBody>
                  <a:tcPr>
                    <a:solidFill>
                      <a:srgbClr val="FFFFFF"/>
                    </a:solidFill>
                  </a:tcPr>
                </a:tc>
                <a:extLst>
                  <a:ext uri="{0D108BD9-81ED-4DB2-BD59-A6C34878D82A}">
                    <a16:rowId xmlns:a16="http://schemas.microsoft.com/office/drawing/2014/main" val="10002"/>
                  </a:ext>
                </a:extLst>
              </a:tr>
              <a:tr h="530679">
                <a:tc>
                  <a:txBody>
                    <a:bodyPr/>
                    <a:lstStyle/>
                    <a:p>
                      <a:r>
                        <a:rPr sz="1875" b="1">
                          <a:solidFill>
                            <a:srgbClr val="000000"/>
                          </a:solidFill>
                          <a:latin typeface="Times New Roman"/>
                          <a:ea typeface="Times New Roman"/>
                          <a:cs typeface="Times New Roman"/>
                        </a:rPr>
                        <a:t>85 / 84 °F</a:t>
                      </a:r>
                    </a:p>
                  </a:txBody>
                  <a:tcPr>
                    <a:solidFill>
                      <a:srgbClr val="FFFFFF"/>
                    </a:solidFill>
                  </a:tcPr>
                </a:tc>
                <a:tc>
                  <a:txBody>
                    <a:bodyPr/>
                    <a:lstStyle/>
                    <a:p>
                      <a:r>
                        <a:rPr sz="1875" b="1">
                          <a:solidFill>
                            <a:srgbClr val="000000"/>
                          </a:solidFill>
                          <a:latin typeface="Times New Roman"/>
                          <a:ea typeface="Times New Roman"/>
                          <a:cs typeface="Times New Roman"/>
                        </a:rPr>
                        <a:t>EXHAUST_ONLY, exhaust ON</a:t>
                      </a:r>
                    </a:p>
                  </a:txBody>
                  <a:tcPr>
                    <a:solidFill>
                      <a:srgbClr val="FFFFFF"/>
                    </a:solidFill>
                  </a:tcPr>
                </a:tc>
                <a:extLst>
                  <a:ext uri="{0D108BD9-81ED-4DB2-BD59-A6C34878D82A}">
                    <a16:rowId xmlns:a16="http://schemas.microsoft.com/office/drawing/2014/main" val="10003"/>
                  </a:ext>
                </a:extLst>
              </a:tr>
              <a:tr h="530679">
                <a:tc>
                  <a:txBody>
                    <a:bodyPr/>
                    <a:lstStyle/>
                    <a:p>
                      <a:r>
                        <a:rPr sz="1875" b="1">
                          <a:solidFill>
                            <a:srgbClr val="000000"/>
                          </a:solidFill>
                          <a:latin typeface="Times New Roman"/>
                          <a:ea typeface="Times New Roman"/>
                          <a:cs typeface="Times New Roman"/>
                        </a:rPr>
                        <a:t>85 / 95 °F</a:t>
                      </a:r>
                    </a:p>
                  </a:txBody>
                  <a:tcPr>
                    <a:solidFill>
                      <a:srgbClr val="FFFFFF"/>
                    </a:solidFill>
                  </a:tcPr>
                </a:tc>
                <a:tc>
                  <a:txBody>
                    <a:bodyPr/>
                    <a:lstStyle/>
                    <a:p>
                      <a:r>
                        <a:rPr sz="1875" b="1">
                          <a:solidFill>
                            <a:srgbClr val="000000"/>
                          </a:solidFill>
                          <a:latin typeface="Times New Roman"/>
                          <a:ea typeface="Times New Roman"/>
                          <a:cs typeface="Times New Roman"/>
                        </a:rPr>
                        <a:t>SEALED, both fans OFF</a:t>
                      </a:r>
                    </a:p>
                  </a:txBody>
                  <a:tcPr>
                    <a:solidFill>
                      <a:srgbClr val="FFFFFF"/>
                    </a:solidFill>
                  </a:tcPr>
                </a:tc>
                <a:extLst>
                  <a:ext uri="{0D108BD9-81ED-4DB2-BD59-A6C34878D82A}">
                    <a16:rowId xmlns:a16="http://schemas.microsoft.com/office/drawing/2014/main" val="10004"/>
                  </a:ext>
                </a:extLst>
              </a:tr>
              <a:tr h="530679">
                <a:tc>
                  <a:txBody>
                    <a:bodyPr/>
                    <a:lstStyle/>
                    <a:p>
                      <a:r>
                        <a:rPr sz="1875" b="1">
                          <a:solidFill>
                            <a:srgbClr val="000000"/>
                          </a:solidFill>
                          <a:latin typeface="Times New Roman"/>
                          <a:ea typeface="Times New Roman"/>
                          <a:cs typeface="Times New Roman"/>
                        </a:rPr>
                        <a:t>Probe disconnected</a:t>
                      </a:r>
                    </a:p>
                  </a:txBody>
                  <a:tcPr>
                    <a:solidFill>
                      <a:srgbClr val="FFFFFF"/>
                    </a:solidFill>
                  </a:tcPr>
                </a:tc>
                <a:tc>
                  <a:txBody>
                    <a:bodyPr/>
                    <a:lstStyle/>
                    <a:p>
                      <a:r>
                        <a:rPr sz="1875" b="1">
                          <a:solidFill>
                            <a:srgbClr val="000000"/>
                          </a:solidFill>
                          <a:latin typeface="Times New Roman"/>
                          <a:ea typeface="Times New Roman"/>
                          <a:cs typeface="Times New Roman"/>
                        </a:rPr>
                        <a:t>FAULT after 3 invalid reads</a:t>
                      </a:r>
                    </a:p>
                  </a:txBody>
                  <a:tcPr>
                    <a:solidFill>
                      <a:srgbClr val="FFFFFF"/>
                    </a:solidFill>
                  </a:tcPr>
                </a:tc>
                <a:extLst>
                  <a:ext uri="{0D108BD9-81ED-4DB2-BD59-A6C34878D82A}">
                    <a16:rowId xmlns:a16="http://schemas.microsoft.com/office/drawing/2014/main" val="10005"/>
                  </a:ext>
                </a:extLst>
              </a:tr>
              <a:tr h="530679">
                <a:tc>
                  <a:txBody>
                    <a:bodyPr/>
                    <a:lstStyle/>
                    <a:p>
                      <a:r>
                        <a:rPr sz="1875" b="1">
                          <a:solidFill>
                            <a:srgbClr val="000000"/>
                          </a:solidFill>
                          <a:latin typeface="Times New Roman"/>
                          <a:ea typeface="Times New Roman"/>
                          <a:cs typeface="Times New Roman"/>
                        </a:rPr>
                        <a:t>Live probe warmed and released</a:t>
                      </a:r>
                    </a:p>
                  </a:txBody>
                  <a:tcPr>
                    <a:solidFill>
                      <a:srgbClr val="FFFFFF"/>
                    </a:solidFill>
                  </a:tcPr>
                </a:tc>
                <a:tc>
                  <a:txBody>
                    <a:bodyPr/>
                    <a:lstStyle/>
                    <a:p>
                      <a:r>
                        <a:rPr sz="1875" b="1">
                          <a:solidFill>
                            <a:srgbClr val="000000"/>
                          </a:solidFill>
                          <a:latin typeface="Times New Roman"/>
                          <a:ea typeface="Times New Roman"/>
                          <a:cs typeface="Times New Roman"/>
                        </a:rPr>
                        <a:t>Fans ON at 80.8 °F, OFF at 76.9 °F</a:t>
                      </a:r>
                    </a:p>
                  </a:txBody>
                  <a:tcPr>
                    <a:solidFill>
                      <a:srgbClr val="FFFFFF"/>
                    </a:solidFill>
                  </a:tcPr>
                </a:tc>
                <a:extLst>
                  <a:ext uri="{0D108BD9-81ED-4DB2-BD59-A6C34878D82A}">
                    <a16:rowId xmlns:a16="http://schemas.microsoft.com/office/drawing/2014/main" val="10006"/>
                  </a:ext>
                </a:extLst>
              </a:tr>
            </a:tbl>
          </a:graphicData>
        </a:graphic>
      </p:graphicFrame>
      <p:sp>
        <p:nvSpPr>
          <p:cNvPr id="4" name="Rectangle 3">
            <a:extLst>
              <a:ext uri="{FF2B5EF4-FFF2-40B4-BE49-F238E27FC236}">
                <a16:creationId xmlns:a16="http://schemas.microsoft.com/office/drawing/2014/main" id="{A28FE293-C1C2-47E3-9AD8-F4DF71B49659}"/>
              </a:ext>
            </a:extLst>
          </p:cNvPr>
          <p:cNvSpPr>
            <a:spLocks noGrp="1"/>
          </p:cNvSpPr>
          <p:nvPr/>
        </p:nvSpPr>
        <p:spPr>
          <a:xfrm>
            <a:off x="722376" y="5669280"/>
            <a:ext cx="10744200" cy="731520"/>
          </a:xfrm>
          <a:prstGeom prst="rect">
            <a:avLst/>
          </a:prstGeom>
          <a:noFill/>
          <a:ln w="0">
            <a:noFill/>
          </a:ln>
        </p:spPr>
        <p:txBody>
          <a:bodyPr lIns="0" tIns="0" rIns="0" bIns="0">
            <a:noAutofit/>
          </a:bodyPr>
          <a:lstStyle/>
          <a:p>
            <a:pPr algn="l">
              <a:defRPr sz="2025" b="1">
                <a:solidFill>
                  <a:srgbClr val="000000"/>
                </a:solidFill>
                <a:latin typeface="Times New Roman"/>
                <a:ea typeface="Times New Roman"/>
                <a:cs typeface="Times New Roman"/>
              </a:defRPr>
            </a:pPr>
            <a:r>
              <a:rPr sz="2025" b="1">
                <a:solidFill>
                  <a:srgbClr val="000000"/>
                </a:solidFill>
                <a:latin typeface="Times New Roman"/>
                <a:ea typeface="Times New Roman"/>
                <a:cs typeface="Times New Roman"/>
              </a:rPr>
              <a:t>Measured on the assembled hardware, 24 Sept 2026. Enclosure cooling test still to come.</a:t>
            </a:r>
          </a:p>
        </p:txBody>
      </p:sp>
      <p:sp>
        <p:nvSpPr>
          <p:cNvPr id="30" name="Finished Product Photo"/>
          <p:cNvSpPr/>
          <p:nvPr/>
        </p:nvSpPr>
        <p:spPr>
          <a:xfrm>
            <a:off x="420624" y="1572768"/>
            <a:ext cx="3931920" cy="2948940"/>
          </a:xfrm>
          <a:prstGeom prst="rect">
            <a:avLst/>
          </a:prstGeom>
          <a:solidFill>
            <a:srgbClr val="F2F2F2"/>
          </a:solidFill>
          <a:ln w="19050">
            <a:solidFill>
              <a:srgbClr val="7F7F7F"/>
            </a:solidFill>
            <a:prstDash val="dash"/>
          </a:ln>
        </p:spPr>
        <p:txBody>
          <a:bodyPr wrap="square" lIns="91440" tIns="45720" rIns="91440" bIns="45720" anchor="ctr">
            <a:noAutofit/>
          </a:bodyPr>
          <a:lstStyle/>
          <a:p>
            <a:pPr algn="ctr">
              <a:buNone/>
            </a:pPr>
            <a:r>
              <a:rPr lang="en-US" sz="1800" b="1" dirty="0">
                <a:solidFill>
                  <a:srgbClr val="595959"/>
                </a:solidFill>
                <a:latin typeface="Times New Roman"/>
                <a:ea typeface="Times New Roman"/>
                <a:cs typeface="Times New Roman"/>
              </a:rPr>
              <a:t>Finished product photo</a:t>
            </a:r>
          </a:p>
        </p:txBody>
      </p:sp>
      <p:sp>
        <p:nvSpPr>
          <p:cNvPr id="31" name="Photo Caption"/>
          <p:cNvSpPr txBox="1"/>
          <p:nvPr/>
        </p:nvSpPr>
        <p:spPr>
          <a:xfrm>
            <a:off x="420624" y="4636008"/>
            <a:ext cx="3931920" cy="329184"/>
          </a:xfrm>
          <a:prstGeom prst="rect">
            <a:avLst/>
          </a:prstGeom>
          <a:noFill/>
          <a:ln w="0">
            <a:noFill/>
          </a:ln>
        </p:spPr>
        <p:txBody>
          <a:bodyPr wrap="square" lIns="0" tIns="0" rIns="0" bIns="0" anchor="t">
            <a:noAutofit/>
          </a:bodyPr>
          <a:lstStyle/>
          <a:p>
            <a:pPr algn="l">
              <a:buNone/>
            </a:pPr>
            <a:r>
              <a:rPr lang="en-US" sz="1800" b="1" dirty="0">
                <a:solidFill>
                  <a:srgbClr val="000000"/>
                </a:solidFill>
                <a:latin typeface="Times New Roman"/>
                <a:ea typeface="Times New Roman"/>
                <a:cs typeface="Times New Roman"/>
              </a:rPr>
              <a:t>Finished product</a:t>
            </a:r>
          </a:p>
        </p:txBody>
      </p:sp>
    </p:spTree>
    <p:extLst>
      <p:ext uri="{BB962C8B-B14F-4D97-AF65-F5344CB8AC3E}">
        <p14:creationId xmlns:p14="http://schemas.microsoft.com/office/powerpoint/2010/main" val="920559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FB582D-D3BE-4E95-80B3-E205DA41C1A9}"/>
              </a:ext>
            </a:extLst>
          </p:cNvPr>
          <p:cNvSpPr>
            <a:spLocks noGrp="1"/>
          </p:cNvSpPr>
          <p:nvPr/>
        </p:nvSpPr>
        <p:spPr>
          <a:xfrm>
            <a:off x="419100" y="285750"/>
            <a:ext cx="11353800" cy="952500"/>
          </a:xfrm>
          <a:prstGeom prst="rect">
            <a:avLst/>
          </a:prstGeom>
          <a:noFill/>
          <a:ln w="0">
            <a:noFill/>
          </a:ln>
        </p:spPr>
        <p:txBody>
          <a:bodyPr lIns="0" tIns="0" rIns="0" bIns="0">
            <a:noAutofit/>
          </a:bodyPr>
          <a:lstStyle/>
          <a:p>
            <a:pPr algn="l">
              <a:defRPr sz="5100" b="1">
                <a:solidFill>
                  <a:srgbClr val="000000"/>
                </a:solidFill>
                <a:latin typeface="Times New Roman"/>
                <a:ea typeface="Times New Roman"/>
                <a:cs typeface="Times New Roman"/>
              </a:defRPr>
            </a:pPr>
            <a:r>
              <a:rPr sz="5100" b="1">
                <a:solidFill>
                  <a:srgbClr val="000000"/>
                </a:solidFill>
                <a:latin typeface="Times New Roman"/>
                <a:ea typeface="Times New Roman"/>
                <a:cs typeface="Times New Roman"/>
              </a:rPr>
              <a:t>Cost Analysis</a:t>
            </a:r>
          </a:p>
        </p:txBody>
      </p:sp>
      <p:sp>
        <p:nvSpPr>
          <p:cNvPr id="2" name="Rectangle 1">
            <a:extLst>
              <a:ext uri="{FF2B5EF4-FFF2-40B4-BE49-F238E27FC236}">
                <a16:creationId xmlns:a16="http://schemas.microsoft.com/office/drawing/2014/main" id="{5C5E918B-FBB5-45DA-A6D8-0160D1D501B3}"/>
              </a:ext>
            </a:extLst>
          </p:cNvPr>
          <p:cNvSpPr>
            <a:spLocks noGrp="1"/>
          </p:cNvSpPr>
          <p:nvPr/>
        </p:nvSpPr>
        <p:spPr>
          <a:xfrm>
            <a:off x="11525250" y="6524625"/>
            <a:ext cx="285750" cy="190500"/>
          </a:xfrm>
          <a:prstGeom prst="rect">
            <a:avLst/>
          </a:prstGeom>
          <a:noFill/>
          <a:ln w="0">
            <a:noFill/>
          </a:ln>
        </p:spPr>
        <p:txBody>
          <a:bodyPr lIns="0" tIns="0" rIns="0" bIns="0">
            <a:noAutofit/>
          </a:bodyPr>
          <a:lstStyle/>
          <a:p>
            <a:pPr algn="r">
              <a:defRPr sz="975" b="0">
                <a:solidFill>
                  <a:srgbClr val="000000"/>
                </a:solidFill>
                <a:latin typeface="Times New Roman"/>
                <a:ea typeface="Times New Roman"/>
                <a:cs typeface="Times New Roman"/>
              </a:defRPr>
            </a:pPr>
            <a:r>
              <a:rPr sz="975" b="0">
                <a:solidFill>
                  <a:srgbClr val="000000"/>
                </a:solidFill>
                <a:latin typeface="Times New Roman"/>
                <a:ea typeface="Times New Roman"/>
                <a:cs typeface="Times New Roman"/>
              </a:rPr>
              <a:t>11</a:t>
            </a:r>
          </a:p>
        </p:txBody>
      </p:sp>
      <p:graphicFrame>
        <p:nvGraphicFramePr>
          <p:cNvPr id="7" name="Table 6"/>
          <p:cNvGraphicFramePr/>
          <p:nvPr>
            <p:extLst>
              <p:ext uri="{D42A27DB-BD31-4B8C-83A1-F6EECF244321}">
                <p14:modId xmlns:p14="http://schemas.microsoft.com/office/powerpoint/2010/main" val="1852873309"/>
              </p:ext>
            </p:extLst>
          </p:nvPr>
        </p:nvGraphicFramePr>
        <p:xfrm>
          <a:off x="723900" y="1619250"/>
          <a:ext cx="10744200" cy="4000500"/>
        </p:xfrm>
        <a:graphic>
          <a:graphicData uri="http://schemas.openxmlformats.org/drawingml/2006/table">
            <a:tbl>
              <a:tblPr/>
              <a:tblGrid>
                <a:gridCol w="55245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444500">
                <a:tc>
                  <a:txBody>
                    <a:bodyPr/>
                    <a:lstStyle/>
                    <a:p>
                      <a:r>
                        <a:rPr sz="1800" b="1">
                          <a:solidFill>
                            <a:srgbClr val="000000"/>
                          </a:solidFill>
                          <a:latin typeface="Times New Roman"/>
                          <a:ea typeface="Times New Roman"/>
                          <a:cs typeface="Times New Roman"/>
                        </a:rPr>
                        <a:t>Component</a:t>
                      </a:r>
                    </a:p>
                  </a:txBody>
                  <a:tcPr>
                    <a:solidFill>
                      <a:srgbClr val="FFFFFF"/>
                    </a:solidFill>
                  </a:tcPr>
                </a:tc>
                <a:tc>
                  <a:txBody>
                    <a:bodyPr/>
                    <a:lstStyle/>
                    <a:p>
                      <a:r>
                        <a:rPr sz="1800" b="1">
                          <a:solidFill>
                            <a:srgbClr val="000000"/>
                          </a:solidFill>
                          <a:latin typeface="Times New Roman"/>
                          <a:ea typeface="Times New Roman"/>
                          <a:cs typeface="Times New Roman"/>
                        </a:rPr>
                        <a:t>Quantity</a:t>
                      </a:r>
                    </a:p>
                  </a:txBody>
                  <a:tcPr>
                    <a:solidFill>
                      <a:srgbClr val="FFFFFF"/>
                    </a:solidFill>
                  </a:tcPr>
                </a:tc>
                <a:tc>
                  <a:txBody>
                    <a:bodyPr/>
                    <a:lstStyle/>
                    <a:p>
                      <a:r>
                        <a:rPr sz="1800" b="1">
                          <a:solidFill>
                            <a:srgbClr val="000000"/>
                          </a:solidFill>
                          <a:latin typeface="Times New Roman"/>
                          <a:ea typeface="Times New Roman"/>
                          <a:cs typeface="Times New Roman"/>
                        </a:rPr>
                        <a:t>Purchase cost</a:t>
                      </a:r>
                    </a:p>
                  </a:txBody>
                  <a:tcPr>
                    <a:solidFill>
                      <a:srgbClr val="FFFFFF"/>
                    </a:solidFill>
                  </a:tcPr>
                </a:tc>
                <a:extLst>
                  <a:ext uri="{0D108BD9-81ED-4DB2-BD59-A6C34878D82A}">
                    <a16:rowId xmlns:a16="http://schemas.microsoft.com/office/drawing/2014/main" val="10000"/>
                  </a:ext>
                </a:extLst>
              </a:tr>
              <a:tr h="444500">
                <a:tc>
                  <a:txBody>
                    <a:bodyPr/>
                    <a:lstStyle/>
                    <a:p>
                      <a:r>
                        <a:rPr sz="1800" b="1" dirty="0">
                          <a:solidFill>
                            <a:srgbClr val="000000"/>
                          </a:solidFill>
                          <a:latin typeface="Times New Roman"/>
                          <a:ea typeface="Times New Roman"/>
                          <a:cs typeface="Times New Roman"/>
                        </a:rPr>
                        <a:t>ESP32</a:t>
                      </a:r>
                    </a:p>
                  </a:txBody>
                  <a:tcPr>
                    <a:solidFill>
                      <a:srgbClr val="FFFFFF"/>
                    </a:solidFill>
                  </a:tcPr>
                </a:tc>
                <a:tc>
                  <a:txBody>
                    <a:bodyPr/>
                    <a:lstStyle/>
                    <a:p>
                      <a:r>
                        <a:rPr sz="1800" b="1">
                          <a:solidFill>
                            <a:srgbClr val="000000"/>
                          </a:solidFill>
                          <a:latin typeface="Times New Roman"/>
                          <a:ea typeface="Times New Roman"/>
                          <a:cs typeface="Times New Roman"/>
                        </a:rPr>
                        <a:t>1</a:t>
                      </a:r>
                    </a:p>
                  </a:txBody>
                  <a:tcPr>
                    <a:solidFill>
                      <a:srgbClr val="FFFFFF"/>
                    </a:solidFill>
                  </a:tcPr>
                </a:tc>
                <a:tc>
                  <a:txBody>
                    <a:bodyPr/>
                    <a:lstStyle/>
                    <a:p>
                      <a:r>
                        <a:rPr lang="en-US" sz="1800" b="1" dirty="0">
                          <a:solidFill>
                            <a:srgbClr val="000000"/>
                          </a:solidFill>
                          <a:latin typeface="Times New Roman"/>
                          <a:ea typeface="Times New Roman"/>
                          <a:cs typeface="Times New Roman"/>
                        </a:rPr>
                        <a:t>$7.30</a:t>
                      </a:r>
                      <a:endParaRPr sz="1800" b="1" dirty="0">
                        <a:solidFill>
                          <a:srgbClr val="000000"/>
                        </a:solidFill>
                        <a:latin typeface="Times New Roman"/>
                        <a:ea typeface="Times New Roman"/>
                        <a:cs typeface="Times New Roman"/>
                      </a:endParaRPr>
                    </a:p>
                  </a:txBody>
                  <a:tcPr>
                    <a:solidFill>
                      <a:srgbClr val="FFFFFF"/>
                    </a:solidFill>
                  </a:tcPr>
                </a:tc>
                <a:extLst>
                  <a:ext uri="{0D108BD9-81ED-4DB2-BD59-A6C34878D82A}">
                    <a16:rowId xmlns:a16="http://schemas.microsoft.com/office/drawing/2014/main" val="10001"/>
                  </a:ext>
                </a:extLst>
              </a:tr>
              <a:tr h="444500">
                <a:tc>
                  <a:txBody>
                    <a:bodyPr/>
                    <a:lstStyle/>
                    <a:p>
                      <a:r>
                        <a:rPr sz="1800" b="1">
                          <a:solidFill>
                            <a:srgbClr val="000000"/>
                          </a:solidFill>
                          <a:latin typeface="Times New Roman"/>
                          <a:ea typeface="Times New Roman"/>
                          <a:cs typeface="Times New Roman"/>
                        </a:rPr>
                        <a:t>DS18B20 probe modules</a:t>
                      </a:r>
                    </a:p>
                  </a:txBody>
                  <a:tcPr>
                    <a:solidFill>
                      <a:srgbClr val="FFFFFF"/>
                    </a:solidFill>
                  </a:tcPr>
                </a:tc>
                <a:tc>
                  <a:txBody>
                    <a:bodyPr/>
                    <a:lstStyle/>
                    <a:p>
                      <a:r>
                        <a:rPr sz="1800" b="1">
                          <a:solidFill>
                            <a:srgbClr val="000000"/>
                          </a:solidFill>
                          <a:latin typeface="Times New Roman"/>
                          <a:ea typeface="Times New Roman"/>
                          <a:cs typeface="Times New Roman"/>
                        </a:rPr>
                        <a:t>2</a:t>
                      </a:r>
                    </a:p>
                  </a:txBody>
                  <a:tcPr>
                    <a:solidFill>
                      <a:srgbClr val="FFFFFF"/>
                    </a:solidFill>
                  </a:tcPr>
                </a:tc>
                <a:tc>
                  <a:txBody>
                    <a:bodyPr/>
                    <a:lstStyle/>
                    <a:p>
                      <a:r>
                        <a:rPr lang="en-US" sz="1800" b="1" dirty="0">
                          <a:solidFill>
                            <a:srgbClr val="000000"/>
                          </a:solidFill>
                          <a:latin typeface="Times New Roman"/>
                          <a:ea typeface="Times New Roman"/>
                          <a:cs typeface="Times New Roman"/>
                        </a:rPr>
                        <a:t>$8.00</a:t>
                      </a:r>
                      <a:endParaRPr sz="1800" b="1" dirty="0">
                        <a:solidFill>
                          <a:srgbClr val="000000"/>
                        </a:solidFill>
                        <a:latin typeface="Times New Roman"/>
                        <a:ea typeface="Times New Roman"/>
                        <a:cs typeface="Times New Roman"/>
                      </a:endParaRPr>
                    </a:p>
                  </a:txBody>
                  <a:tcPr>
                    <a:solidFill>
                      <a:srgbClr val="FFFFFF"/>
                    </a:solidFill>
                  </a:tcPr>
                </a:tc>
                <a:extLst>
                  <a:ext uri="{0D108BD9-81ED-4DB2-BD59-A6C34878D82A}">
                    <a16:rowId xmlns:a16="http://schemas.microsoft.com/office/drawing/2014/main" val="10002"/>
                  </a:ext>
                </a:extLst>
              </a:tr>
              <a:tr h="444500">
                <a:tc>
                  <a:txBody>
                    <a:bodyPr/>
                    <a:lstStyle/>
                    <a:p>
                      <a:r>
                        <a:rPr sz="1800" b="1" dirty="0">
                          <a:solidFill>
                            <a:srgbClr val="000000"/>
                          </a:solidFill>
                          <a:latin typeface="Times New Roman"/>
                          <a:ea typeface="Times New Roman"/>
                          <a:cs typeface="Times New Roman"/>
                        </a:rPr>
                        <a:t>OLED panels</a:t>
                      </a:r>
                    </a:p>
                  </a:txBody>
                  <a:tcPr>
                    <a:solidFill>
                      <a:srgbClr val="FFFFFF"/>
                    </a:solidFill>
                  </a:tcPr>
                </a:tc>
                <a:tc>
                  <a:txBody>
                    <a:bodyPr/>
                    <a:lstStyle/>
                    <a:p>
                      <a:r>
                        <a:rPr sz="1800" b="1">
                          <a:solidFill>
                            <a:srgbClr val="000000"/>
                          </a:solidFill>
                          <a:latin typeface="Times New Roman"/>
                          <a:ea typeface="Times New Roman"/>
                          <a:cs typeface="Times New Roman"/>
                        </a:rPr>
                        <a:t>3</a:t>
                      </a:r>
                    </a:p>
                  </a:txBody>
                  <a:tcPr>
                    <a:solidFill>
                      <a:srgbClr val="FFFFFF"/>
                    </a:solidFill>
                  </a:tcPr>
                </a:tc>
                <a:tc>
                  <a:txBody>
                    <a:bodyPr/>
                    <a:lstStyle/>
                    <a:p>
                      <a:r>
                        <a:rPr lang="en-US" sz="1800" b="1" dirty="0">
                          <a:solidFill>
                            <a:srgbClr val="000000"/>
                          </a:solidFill>
                          <a:latin typeface="Times New Roman"/>
                          <a:ea typeface="Times New Roman"/>
                          <a:cs typeface="Times New Roman"/>
                        </a:rPr>
                        <a:t>$10.00</a:t>
                      </a:r>
                      <a:endParaRPr sz="1800" b="1" dirty="0">
                        <a:solidFill>
                          <a:srgbClr val="000000"/>
                        </a:solidFill>
                        <a:latin typeface="Times New Roman"/>
                        <a:ea typeface="Times New Roman"/>
                        <a:cs typeface="Times New Roman"/>
                      </a:endParaRPr>
                    </a:p>
                  </a:txBody>
                  <a:tcPr>
                    <a:solidFill>
                      <a:srgbClr val="FFFFFF"/>
                    </a:solidFill>
                  </a:tcPr>
                </a:tc>
                <a:extLst>
                  <a:ext uri="{0D108BD9-81ED-4DB2-BD59-A6C34878D82A}">
                    <a16:rowId xmlns:a16="http://schemas.microsoft.com/office/drawing/2014/main" val="10003"/>
                  </a:ext>
                </a:extLst>
              </a:tr>
              <a:tr h="444500">
                <a:tc>
                  <a:txBody>
                    <a:bodyPr/>
                    <a:lstStyle/>
                    <a:p>
                      <a:r>
                        <a:rPr sz="1800" b="1">
                          <a:solidFill>
                            <a:srgbClr val="000000"/>
                          </a:solidFill>
                          <a:latin typeface="Times New Roman"/>
                          <a:ea typeface="Times New Roman"/>
                          <a:cs typeface="Times New Roman"/>
                        </a:rPr>
                        <a:t>DRV8833 driver</a:t>
                      </a:r>
                    </a:p>
                  </a:txBody>
                  <a:tcPr>
                    <a:solidFill>
                      <a:srgbClr val="FFFFFF"/>
                    </a:solidFill>
                  </a:tcPr>
                </a:tc>
                <a:tc>
                  <a:txBody>
                    <a:bodyPr/>
                    <a:lstStyle/>
                    <a:p>
                      <a:r>
                        <a:rPr sz="1800" b="1">
                          <a:solidFill>
                            <a:srgbClr val="000000"/>
                          </a:solidFill>
                          <a:latin typeface="Times New Roman"/>
                          <a:ea typeface="Times New Roman"/>
                          <a:cs typeface="Times New Roman"/>
                        </a:rPr>
                        <a:t>1</a:t>
                      </a:r>
                    </a:p>
                  </a:txBody>
                  <a:tcPr>
                    <a:solidFill>
                      <a:srgbClr val="FFFFFF"/>
                    </a:solidFill>
                  </a:tcPr>
                </a:tc>
                <a:tc>
                  <a:txBody>
                    <a:bodyPr/>
                    <a:lstStyle/>
                    <a:p>
                      <a:r>
                        <a:rPr sz="1800" b="1">
                          <a:solidFill>
                            <a:srgbClr val="000000"/>
                          </a:solidFill>
                          <a:latin typeface="Times New Roman"/>
                          <a:ea typeface="Times New Roman"/>
                          <a:cs typeface="Times New Roman"/>
                        </a:rPr>
                        <a:t>$3.38</a:t>
                      </a:r>
                    </a:p>
                  </a:txBody>
                  <a:tcPr>
                    <a:solidFill>
                      <a:srgbClr val="FFFFFF"/>
                    </a:solidFill>
                  </a:tcPr>
                </a:tc>
                <a:extLst>
                  <a:ext uri="{0D108BD9-81ED-4DB2-BD59-A6C34878D82A}">
                    <a16:rowId xmlns:a16="http://schemas.microsoft.com/office/drawing/2014/main" val="10004"/>
                  </a:ext>
                </a:extLst>
              </a:tr>
              <a:tr h="444500">
                <a:tc>
                  <a:txBody>
                    <a:bodyPr/>
                    <a:lstStyle/>
                    <a:p>
                      <a:r>
                        <a:rPr sz="1800" b="1">
                          <a:solidFill>
                            <a:srgbClr val="000000"/>
                          </a:solidFill>
                          <a:latin typeface="Times New Roman"/>
                          <a:ea typeface="Times New Roman"/>
                          <a:cs typeface="Times New Roman"/>
                        </a:rPr>
                        <a:t>80 mm, 5 V brushless fans</a:t>
                      </a:r>
                    </a:p>
                  </a:txBody>
                  <a:tcPr>
                    <a:solidFill>
                      <a:srgbClr val="FFFFFF"/>
                    </a:solidFill>
                  </a:tcPr>
                </a:tc>
                <a:tc>
                  <a:txBody>
                    <a:bodyPr/>
                    <a:lstStyle/>
                    <a:p>
                      <a:r>
                        <a:rPr sz="1800" b="1">
                          <a:solidFill>
                            <a:srgbClr val="000000"/>
                          </a:solidFill>
                          <a:latin typeface="Times New Roman"/>
                          <a:ea typeface="Times New Roman"/>
                          <a:cs typeface="Times New Roman"/>
                        </a:rPr>
                        <a:t>2</a:t>
                      </a:r>
                    </a:p>
                  </a:txBody>
                  <a:tcPr>
                    <a:solidFill>
                      <a:srgbClr val="FFFFFF"/>
                    </a:solidFill>
                  </a:tcPr>
                </a:tc>
                <a:tc>
                  <a:txBody>
                    <a:bodyPr/>
                    <a:lstStyle/>
                    <a:p>
                      <a:r>
                        <a:rPr lang="en-US" sz="1800" b="1" dirty="0">
                          <a:solidFill>
                            <a:srgbClr val="000000"/>
                          </a:solidFill>
                          <a:latin typeface="Times New Roman"/>
                          <a:ea typeface="Times New Roman"/>
                          <a:cs typeface="Times New Roman"/>
                        </a:rPr>
                        <a:t>$8.00</a:t>
                      </a:r>
                      <a:endParaRPr sz="1800" b="1" dirty="0">
                        <a:solidFill>
                          <a:srgbClr val="000000"/>
                        </a:solidFill>
                        <a:latin typeface="Times New Roman"/>
                        <a:ea typeface="Times New Roman"/>
                        <a:cs typeface="Times New Roman"/>
                      </a:endParaRPr>
                    </a:p>
                  </a:txBody>
                  <a:tcPr>
                    <a:solidFill>
                      <a:srgbClr val="FFFFFF"/>
                    </a:solidFill>
                  </a:tcPr>
                </a:tc>
                <a:extLst>
                  <a:ext uri="{0D108BD9-81ED-4DB2-BD59-A6C34878D82A}">
                    <a16:rowId xmlns:a16="http://schemas.microsoft.com/office/drawing/2014/main" val="10005"/>
                  </a:ext>
                </a:extLst>
              </a:tr>
              <a:tr h="444500">
                <a:tc>
                  <a:txBody>
                    <a:bodyPr/>
                    <a:lstStyle/>
                    <a:p>
                      <a:r>
                        <a:rPr sz="1800" b="1">
                          <a:solidFill>
                            <a:srgbClr val="000000"/>
                          </a:solidFill>
                          <a:latin typeface="Times New Roman"/>
                          <a:ea typeface="Times New Roman"/>
                          <a:cs typeface="Times New Roman"/>
                        </a:rPr>
                        <a:t>Buzzer and 5 V 2 A supply</a:t>
                      </a:r>
                    </a:p>
                  </a:txBody>
                  <a:tcPr>
                    <a:solidFill>
                      <a:srgbClr val="FFFFFF"/>
                    </a:solidFill>
                  </a:tcPr>
                </a:tc>
                <a:tc>
                  <a:txBody>
                    <a:bodyPr/>
                    <a:lstStyle/>
                    <a:p>
                      <a:r>
                        <a:rPr sz="1800" b="1">
                          <a:solidFill>
                            <a:srgbClr val="000000"/>
                          </a:solidFill>
                          <a:latin typeface="Times New Roman"/>
                          <a:ea typeface="Times New Roman"/>
                          <a:cs typeface="Times New Roman"/>
                        </a:rPr>
                        <a:t>1 each</a:t>
                      </a:r>
                    </a:p>
                  </a:txBody>
                  <a:tcPr>
                    <a:solidFill>
                      <a:srgbClr val="FFFFFF"/>
                    </a:solidFill>
                  </a:tcPr>
                </a:tc>
                <a:tc>
                  <a:txBody>
                    <a:bodyPr/>
                    <a:lstStyle/>
                    <a:p>
                      <a:r>
                        <a:rPr sz="1800" b="1">
                          <a:solidFill>
                            <a:srgbClr val="000000"/>
                          </a:solidFill>
                          <a:latin typeface="Times New Roman"/>
                          <a:ea typeface="Times New Roman"/>
                          <a:cs typeface="Times New Roman"/>
                        </a:rPr>
                        <a:t>$5.21</a:t>
                      </a:r>
                    </a:p>
                  </a:txBody>
                  <a:tcPr>
                    <a:solidFill>
                      <a:srgbClr val="FFFFFF"/>
                    </a:solidFill>
                  </a:tcPr>
                </a:tc>
                <a:extLst>
                  <a:ext uri="{0D108BD9-81ED-4DB2-BD59-A6C34878D82A}">
                    <a16:rowId xmlns:a16="http://schemas.microsoft.com/office/drawing/2014/main" val="10006"/>
                  </a:ext>
                </a:extLst>
              </a:tr>
              <a:tr h="444500">
                <a:tc>
                  <a:txBody>
                    <a:bodyPr/>
                    <a:lstStyle/>
                    <a:p>
                      <a:r>
                        <a:rPr sz="1800" b="1">
                          <a:solidFill>
                            <a:srgbClr val="000000"/>
                          </a:solidFill>
                          <a:latin typeface="Times New Roman"/>
                          <a:ea typeface="Times New Roman"/>
                          <a:cs typeface="Times New Roman"/>
                        </a:rPr>
                        <a:t>Enclosure, wiring and fasteners</a:t>
                      </a:r>
                    </a:p>
                  </a:txBody>
                  <a:tcPr>
                    <a:solidFill>
                      <a:srgbClr val="FFFFFF"/>
                    </a:solidFill>
                  </a:tcPr>
                </a:tc>
                <a:tc>
                  <a:txBody>
                    <a:bodyPr/>
                    <a:lstStyle/>
                    <a:p>
                      <a:r>
                        <a:rPr sz="1800" b="1">
                          <a:solidFill>
                            <a:srgbClr val="000000"/>
                          </a:solidFill>
                          <a:latin typeface="Times New Roman"/>
                          <a:ea typeface="Times New Roman"/>
                          <a:cs typeface="Times New Roman"/>
                        </a:rPr>
                        <a:t>1 set</a:t>
                      </a:r>
                    </a:p>
                  </a:txBody>
                  <a:tcPr>
                    <a:solidFill>
                      <a:srgbClr val="FFFFFF"/>
                    </a:solidFill>
                  </a:tcPr>
                </a:tc>
                <a:tc>
                  <a:txBody>
                    <a:bodyPr/>
                    <a:lstStyle/>
                    <a:p>
                      <a:r>
                        <a:rPr lang="en-US" sz="1800" b="1" dirty="0">
                          <a:solidFill>
                            <a:srgbClr val="000000"/>
                          </a:solidFill>
                          <a:latin typeface="Times New Roman"/>
                          <a:ea typeface="Times New Roman"/>
                          <a:cs typeface="Times New Roman"/>
                        </a:rPr>
                        <a:t>$5.00</a:t>
                      </a:r>
                      <a:endParaRPr sz="1800" b="1" dirty="0">
                        <a:solidFill>
                          <a:srgbClr val="000000"/>
                        </a:solidFill>
                        <a:latin typeface="Times New Roman"/>
                        <a:ea typeface="Times New Roman"/>
                        <a:cs typeface="Times New Roman"/>
                      </a:endParaRPr>
                    </a:p>
                  </a:txBody>
                  <a:tcPr>
                    <a:solidFill>
                      <a:srgbClr val="FFFFFF"/>
                    </a:solidFill>
                  </a:tcPr>
                </a:tc>
                <a:extLst>
                  <a:ext uri="{0D108BD9-81ED-4DB2-BD59-A6C34878D82A}">
                    <a16:rowId xmlns:a16="http://schemas.microsoft.com/office/drawing/2014/main" val="10007"/>
                  </a:ext>
                </a:extLst>
              </a:tr>
              <a:tr h="444500">
                <a:tc>
                  <a:txBody>
                    <a:bodyPr/>
                    <a:lstStyle/>
                    <a:p>
                      <a:r>
                        <a:rPr sz="1800" b="1">
                          <a:solidFill>
                            <a:srgbClr val="000000"/>
                          </a:solidFill>
                          <a:latin typeface="Times New Roman"/>
                          <a:ea typeface="Times New Roman"/>
                          <a:cs typeface="Times New Roman"/>
                        </a:rPr>
                        <a:t>Total</a:t>
                      </a:r>
                    </a:p>
                  </a:txBody>
                  <a:tcPr>
                    <a:solidFill>
                      <a:srgbClr val="FFFFFF"/>
                    </a:solidFill>
                  </a:tcPr>
                </a:tc>
                <a:tc>
                  <a:txBody>
                    <a:bodyPr/>
                    <a:lstStyle/>
                    <a:p>
                      <a:r>
                        <a:rPr sz="1800" b="1">
                          <a:solidFill>
                            <a:srgbClr val="000000"/>
                          </a:solidFill>
                          <a:latin typeface="Times New Roman"/>
                          <a:ea typeface="Times New Roman"/>
                          <a:cs typeface="Times New Roman"/>
                        </a:rPr>
                        <a:t>—</a:t>
                      </a:r>
                    </a:p>
                  </a:txBody>
                  <a:tcPr>
                    <a:solidFill>
                      <a:srgbClr val="FFFFFF"/>
                    </a:solidFill>
                  </a:tcPr>
                </a:tc>
                <a:tc>
                  <a:txBody>
                    <a:bodyPr/>
                    <a:lstStyle/>
                    <a:p>
                      <a:r>
                        <a:rPr lang="en-US" sz="1800" b="1" dirty="0">
                          <a:solidFill>
                            <a:srgbClr val="000000"/>
                          </a:solidFill>
                          <a:latin typeface="Times New Roman"/>
                          <a:ea typeface="Times New Roman"/>
                          <a:cs typeface="Times New Roman"/>
                        </a:rPr>
                        <a:t>$46.89</a:t>
                      </a:r>
                      <a:endParaRPr sz="1800" b="1" dirty="0">
                        <a:solidFill>
                          <a:srgbClr val="000000"/>
                        </a:solidFill>
                        <a:latin typeface="Times New Roman"/>
                        <a:ea typeface="Times New Roman"/>
                        <a:cs typeface="Times New Roman"/>
                      </a:endParaRPr>
                    </a:p>
                  </a:txBody>
                  <a:tcPr>
                    <a:solidFill>
                      <a:srgbClr val="FFFFFF"/>
                    </a:solidFill>
                  </a:tcPr>
                </a:tc>
                <a:extLst>
                  <a:ext uri="{0D108BD9-81ED-4DB2-BD59-A6C34878D82A}">
                    <a16:rowId xmlns:a16="http://schemas.microsoft.com/office/drawing/2014/main" val="10008"/>
                  </a:ext>
                </a:extLst>
              </a:tr>
            </a:tbl>
          </a:graphicData>
        </a:graphic>
      </p:graphicFrame>
      <p:sp>
        <p:nvSpPr>
          <p:cNvPr id="4" name="Rectangle 3">
            <a:extLst>
              <a:ext uri="{FF2B5EF4-FFF2-40B4-BE49-F238E27FC236}">
                <a16:creationId xmlns:a16="http://schemas.microsoft.com/office/drawing/2014/main" id="{9E1D186E-487A-482F-9ABA-A7C08E53CFB6}"/>
              </a:ext>
            </a:extLst>
          </p:cNvPr>
          <p:cNvSpPr>
            <a:spLocks noGrp="1"/>
          </p:cNvSpPr>
          <p:nvPr/>
        </p:nvSpPr>
        <p:spPr>
          <a:xfrm>
            <a:off x="723900" y="5953125"/>
            <a:ext cx="10744200" cy="619125"/>
          </a:xfrm>
          <a:prstGeom prst="rect">
            <a:avLst/>
          </a:prstGeom>
          <a:noFill/>
          <a:ln w="0">
            <a:noFill/>
          </a:ln>
        </p:spPr>
        <p:txBody>
          <a:bodyPr lIns="0" tIns="0" rIns="0" bIns="0">
            <a:noAutofit/>
          </a:bodyPr>
          <a:lstStyle/>
          <a:p>
            <a:pPr algn="l">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Estimated steady power budget: 1.58 W. Actual power consumption is unmeasured.</a:t>
            </a:r>
          </a:p>
        </p:txBody>
      </p:sp>
    </p:spTree>
    <p:extLst>
      <p:ext uri="{BB962C8B-B14F-4D97-AF65-F5344CB8AC3E}">
        <p14:creationId xmlns:p14="http://schemas.microsoft.com/office/powerpoint/2010/main" val="9627132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20624" y="283464"/>
            <a:ext cx="11356848" cy="950976"/>
          </a:xfrm>
          <a:prstGeom prst="rect">
            <a:avLst/>
          </a:prstGeom>
          <a:noFill/>
          <a:ln w="0">
            <a:noFill/>
          </a:ln>
        </p:spPr>
        <p:txBody>
          <a:bodyPr wrap="square" lIns="0" tIns="0" rIns="0" bIns="0" anchor="t">
            <a:noAutofit/>
          </a:bodyPr>
          <a:lstStyle/>
          <a:p>
            <a:pPr algn="l">
              <a:buNone/>
            </a:pPr>
            <a:r>
              <a:rPr lang="en-US" sz="5100" b="1" dirty="0">
                <a:solidFill>
                  <a:srgbClr val="000000"/>
                </a:solidFill>
                <a:latin typeface="Times New Roman"/>
                <a:ea typeface="Times New Roman"/>
                <a:cs typeface="Times New Roman"/>
              </a:rPr>
              <a:t>Conclusion</a:t>
            </a:r>
          </a:p>
        </p:txBody>
      </p:sp>
      <p:sp>
        <p:nvSpPr>
          <p:cNvPr id="3" name="Conclusion Points"/>
          <p:cNvSpPr txBox="1"/>
          <p:nvPr/>
        </p:nvSpPr>
        <p:spPr>
          <a:xfrm>
            <a:off x="685800" y="1508760"/>
            <a:ext cx="10789920" cy="3291840"/>
          </a:xfrm>
          <a:prstGeom prst="rect">
            <a:avLst/>
          </a:prstGeom>
          <a:noFill/>
          <a:ln w="0">
            <a:noFill/>
          </a:ln>
        </p:spPr>
        <p:txBody>
          <a:bodyPr wrap="square" lIns="0" tIns="0" rIns="0" bIns="0" anchor="t">
            <a:noAutofit/>
          </a:bodyPr>
          <a:lstStyle/>
          <a:p>
            <a:pPr algn="l" marL="342900" indent="-342900">
              <a:spcAft>
                <a:spcPts val="1000"/>
              </a:spcAft>
              <a:buFont typeface="Arial"/>
              <a:buChar char="•"/>
            </a:pPr>
            <a:r>
              <a:rPr lang="en-US" sz="2400" b="1" dirty="0">
                <a:solidFill>
                  <a:srgbClr val="000000"/>
                </a:solidFill>
                <a:latin typeface="Times New Roman"/>
                <a:ea typeface="Times New Roman"/>
                <a:cs typeface="Times New Roman"/>
              </a:rPr>
              <a:t>Compares inside and outside air and picks one of five states on its own.</a:t>
            </a:r>
          </a:p>
          <a:p>
            <a:pPr algn="l" marL="342900" indent="-342900">
              <a:spcAft>
                <a:spcPts val="1000"/>
              </a:spcAft>
              <a:buFont typeface="Arial"/>
              <a:buChar char="•"/>
            </a:pPr>
            <a:r>
              <a:rPr lang="en-US" sz="2400" b="1" dirty="0">
                <a:solidFill>
                  <a:srgbClr val="000000"/>
                </a:solidFill>
                <a:latin typeface="Times New Roman"/>
                <a:ea typeface="Times New Roman"/>
                <a:cs typeface="Times New Roman"/>
              </a:rPr>
              <a:t>Verified on hardware: all five states, the 80 / 77 °F hysteresis and sensor-fault recovery.</a:t>
            </a:r>
          </a:p>
          <a:p>
            <a:pPr algn="l" marL="342900" indent="-342900">
              <a:spcAft>
                <a:spcPts val="1000"/>
              </a:spcAft>
              <a:buFont typeface="Arial"/>
              <a:buChar char="•"/>
            </a:pPr>
            <a:r>
              <a:rPr lang="en-US" sz="2400" b="1" dirty="0">
                <a:solidFill>
                  <a:srgbClr val="000000"/>
                </a:solidFill>
                <a:latin typeface="Times New Roman"/>
                <a:ea typeface="Times New Roman"/>
                <a:cs typeface="Times New Roman"/>
              </a:rPr>
              <a:t>Cools by air exchange only, so outside temperature is its limit.</a:t>
            </a:r>
          </a:p>
          <a:p>
            <a:pPr algn="l" marL="342900" indent="-342900">
              <a:spcAft>
                <a:spcPts val="1000"/>
              </a:spcAft>
              <a:buFont typeface="Arial"/>
              <a:buChar char="•"/>
            </a:pPr>
            <a:r>
              <a:rPr lang="en-US" sz="2400" b="1" dirty="0">
                <a:solidFill>
                  <a:srgbClr val="000000"/>
                </a:solidFill>
                <a:latin typeface="Times New Roman"/>
                <a:ea typeface="Times New Roman"/>
                <a:cs typeface="Times New Roman"/>
              </a:rPr>
              <a:t>Next: the cooling test in the finished enclosure.</a:t>
            </a:r>
          </a:p>
        </p:txBody>
      </p:sp>
      <p:sp>
        <p:nvSpPr>
          <p:cNvPr id="4" name="Questions"/>
          <p:cNvSpPr txBox="1"/>
          <p:nvPr/>
        </p:nvSpPr>
        <p:spPr>
          <a:xfrm>
            <a:off x="420624" y="4983480"/>
            <a:ext cx="11338560" cy="822960"/>
          </a:xfrm>
          <a:prstGeom prst="rect">
            <a:avLst/>
          </a:prstGeom>
          <a:noFill/>
          <a:ln w="0">
            <a:noFill/>
          </a:ln>
        </p:spPr>
        <p:txBody>
          <a:bodyPr wrap="square" lIns="0" tIns="0" rIns="0" bIns="0" anchor="t">
            <a:noAutofit/>
          </a:bodyPr>
          <a:lstStyle/>
          <a:p>
            <a:pPr algn="ctr">
              <a:buNone/>
            </a:pPr>
            <a:r>
              <a:rPr lang="en-US" sz="4400" b="1" dirty="0">
                <a:solidFill>
                  <a:srgbClr val="000000"/>
                </a:solidFill>
                <a:latin typeface="Times New Roman"/>
                <a:ea typeface="Times New Roman"/>
                <a:cs typeface="Times New Roman"/>
              </a:rPr>
              <a:t>Questions and Feedback</a:t>
            </a:r>
          </a:p>
        </p:txBody>
      </p:sp>
      <p:sp>
        <p:nvSpPr>
          <p:cNvPr id="5" name="Slide Number"/>
          <p:cNvSpPr txBox="1"/>
          <p:nvPr/>
        </p:nvSpPr>
        <p:spPr>
          <a:xfrm>
            <a:off x="11521440" y="6528816"/>
            <a:ext cx="283464" cy="192024"/>
          </a:xfrm>
          <a:prstGeom prst="rect">
            <a:avLst/>
          </a:prstGeom>
          <a:noFill/>
          <a:ln w="0">
            <a:noFill/>
          </a:ln>
        </p:spPr>
        <p:txBody>
          <a:bodyPr wrap="square" lIns="0" tIns="0" rIns="0" bIns="0" anchor="t">
            <a:noAutofit/>
          </a:bodyPr>
          <a:lstStyle/>
          <a:p>
            <a:pPr algn="r">
              <a:buNone/>
            </a:pPr>
            <a:r>
              <a:rPr lang="en-US" sz="975" b="0" dirty="0">
                <a:solidFill>
                  <a:srgbClr val="000000"/>
                </a:solidFill>
                <a:latin typeface="Times New Roman"/>
                <a:ea typeface="Times New Roman"/>
                <a:cs typeface="Times New Roman"/>
              </a:rPr>
              <a:t>12</a:t>
            </a:r>
          </a:p>
        </p:txBody>
      </p:sp>
    </p:spTree>
    <p:extLst>
      <p:ext uri="{BB962C8B-B14F-4D97-AF65-F5344CB8AC3E}">
        <p14:creationId xmlns:p14="http://schemas.microsoft.com/office/powerpoint/2010/main" val="37215707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54F13DC-436B-4457-804F-A237AC79FBF8}"/>
              </a:ext>
            </a:extLst>
          </p:cNvPr>
          <p:cNvSpPr>
            <a:spLocks noGrp="1"/>
          </p:cNvSpPr>
          <p:nvPr/>
        </p:nvSpPr>
        <p:spPr>
          <a:xfrm>
            <a:off x="419100" y="285750"/>
            <a:ext cx="11353800" cy="952500"/>
          </a:xfrm>
          <a:prstGeom prst="rect">
            <a:avLst/>
          </a:prstGeom>
          <a:noFill/>
          <a:ln w="0">
            <a:noFill/>
          </a:ln>
        </p:spPr>
        <p:txBody>
          <a:bodyPr lIns="0" tIns="0" rIns="0" bIns="0">
            <a:noAutofit/>
          </a:bodyPr>
          <a:lstStyle/>
          <a:p>
            <a:pPr algn="l">
              <a:defRPr sz="5100" b="1">
                <a:solidFill>
                  <a:srgbClr val="000000"/>
                </a:solidFill>
                <a:latin typeface="Times New Roman"/>
                <a:ea typeface="Times New Roman"/>
                <a:cs typeface="Times New Roman"/>
              </a:defRPr>
            </a:pPr>
            <a:r>
              <a:rPr sz="5100" b="1">
                <a:solidFill>
                  <a:srgbClr val="000000"/>
                </a:solidFill>
                <a:latin typeface="Times New Roman"/>
                <a:ea typeface="Times New Roman"/>
                <a:cs typeface="Times New Roman"/>
              </a:rPr>
              <a:t>References</a:t>
            </a:r>
          </a:p>
        </p:txBody>
      </p:sp>
      <p:sp>
        <p:nvSpPr>
          <p:cNvPr id="2" name="Rectangle 1">
            <a:extLst>
              <a:ext uri="{FF2B5EF4-FFF2-40B4-BE49-F238E27FC236}">
                <a16:creationId xmlns:a16="http://schemas.microsoft.com/office/drawing/2014/main" id="{DD1F03E2-048D-4A1C-9E6A-93E6CD97408E}"/>
              </a:ext>
            </a:extLst>
          </p:cNvPr>
          <p:cNvSpPr>
            <a:spLocks noGrp="1"/>
          </p:cNvSpPr>
          <p:nvPr/>
        </p:nvSpPr>
        <p:spPr>
          <a:xfrm>
            <a:off x="11525250" y="6524625"/>
            <a:ext cx="285750" cy="190500"/>
          </a:xfrm>
          <a:prstGeom prst="rect">
            <a:avLst/>
          </a:prstGeom>
          <a:noFill/>
          <a:ln w="0">
            <a:noFill/>
          </a:ln>
        </p:spPr>
        <p:txBody>
          <a:bodyPr lIns="0" tIns="0" rIns="0" bIns="0">
            <a:noAutofit/>
          </a:bodyPr>
          <a:lstStyle/>
          <a:p>
            <a:pPr algn="r">
              <a:defRPr sz="975" b="0">
                <a:solidFill>
                  <a:srgbClr val="000000"/>
                </a:solidFill>
                <a:latin typeface="Times New Roman"/>
                <a:ea typeface="Times New Roman"/>
                <a:cs typeface="Times New Roman"/>
              </a:defRPr>
            </a:pPr>
            <a:r>
              <a:rPr sz="975" b="0">
                <a:solidFill>
                  <a:srgbClr val="000000"/>
                </a:solidFill>
                <a:latin typeface="Times New Roman"/>
                <a:ea typeface="Times New Roman"/>
                <a:cs typeface="Times New Roman"/>
              </a:rPr>
              <a:t>13</a:t>
            </a:r>
          </a:p>
        </p:txBody>
      </p:sp>
      <p:sp>
        <p:nvSpPr>
          <p:cNvPr id="3" name="Rectangle 2">
            <a:extLst>
              <a:ext uri="{FF2B5EF4-FFF2-40B4-BE49-F238E27FC236}">
                <a16:creationId xmlns:a16="http://schemas.microsoft.com/office/drawing/2014/main" id="{AD667D79-EB32-4A2E-BE28-9B1964AD4058}"/>
              </a:ext>
            </a:extLst>
          </p:cNvPr>
          <p:cNvSpPr>
            <a:spLocks noGrp="1"/>
          </p:cNvSpPr>
          <p:nvPr/>
        </p:nvSpPr>
        <p:spPr>
          <a:xfrm>
            <a:off x="723900" y="1809750"/>
            <a:ext cx="10744200" cy="762000"/>
          </a:xfrm>
          <a:prstGeom prst="rect">
            <a:avLst/>
          </a:prstGeom>
          <a:noFill/>
          <a:ln w="0">
            <a:noFill/>
          </a:ln>
        </p:spPr>
        <p:txBody>
          <a:bodyPr lIns="0" tIns="0" rIns="0" bIns="0">
            <a:noAutofit/>
          </a:bodyPr>
          <a:lstStyle/>
          <a:p>
            <a:pPr algn="l">
              <a:defRPr sz="2025" b="1">
                <a:solidFill>
                  <a:srgbClr val="000000"/>
                </a:solidFill>
                <a:latin typeface="Times New Roman"/>
                <a:ea typeface="Times New Roman"/>
                <a:cs typeface="Times New Roman"/>
              </a:defRPr>
            </a:pPr>
            <a:r>
              <a:rPr sz="2025" b="1">
                <a:solidFill>
                  <a:srgbClr val="000000"/>
                </a:solidFill>
                <a:latin typeface="Times New Roman"/>
                <a:ea typeface="Times New Roman"/>
                <a:cs typeface="Times New Roman"/>
              </a:rPr>
              <a:t>1. Analog Devices / Maxim, DS18B20 Programmable Resolution</a:t>
            </a:r>
          </a:p>
          <a:p>
            <a:pPr algn="l">
              <a:defRPr sz="2025" b="1">
                <a:solidFill>
                  <a:srgbClr val="000000"/>
                </a:solidFill>
                <a:latin typeface="Times New Roman"/>
                <a:ea typeface="Times New Roman"/>
                <a:cs typeface="Times New Roman"/>
              </a:defRPr>
            </a:pPr>
            <a:r>
              <a:rPr sz="2025" b="1">
                <a:solidFill>
                  <a:srgbClr val="000000"/>
                </a:solidFill>
                <a:latin typeface="Times New Roman"/>
                <a:ea typeface="Times New Roman"/>
                <a:cs typeface="Times New Roman"/>
              </a:rPr>
              <a:t>   1-Wire Digital Thermometer, datasheet.</a:t>
            </a:r>
          </a:p>
        </p:txBody>
      </p:sp>
      <p:sp>
        <p:nvSpPr>
          <p:cNvPr id="4" name="Rectangle 3">
            <a:extLst>
              <a:ext uri="{FF2B5EF4-FFF2-40B4-BE49-F238E27FC236}">
                <a16:creationId xmlns:a16="http://schemas.microsoft.com/office/drawing/2014/main" id="{98597913-CF4E-4946-AB4E-358EC3CFD73B}"/>
              </a:ext>
            </a:extLst>
          </p:cNvPr>
          <p:cNvSpPr>
            <a:spLocks noGrp="1"/>
          </p:cNvSpPr>
          <p:nvPr/>
        </p:nvSpPr>
        <p:spPr>
          <a:xfrm>
            <a:off x="723900" y="2667000"/>
            <a:ext cx="10744200" cy="762000"/>
          </a:xfrm>
          <a:prstGeom prst="rect">
            <a:avLst/>
          </a:prstGeom>
          <a:noFill/>
          <a:ln w="0">
            <a:noFill/>
          </a:ln>
        </p:spPr>
        <p:txBody>
          <a:bodyPr lIns="0" tIns="0" rIns="0" bIns="0">
            <a:noAutofit/>
          </a:bodyPr>
          <a:lstStyle/>
          <a:p>
            <a:pPr algn="l">
              <a:defRPr sz="2025" b="1">
                <a:solidFill>
                  <a:srgbClr val="000000"/>
                </a:solidFill>
                <a:latin typeface="Times New Roman"/>
                <a:ea typeface="Times New Roman"/>
                <a:cs typeface="Times New Roman"/>
              </a:defRPr>
            </a:pPr>
            <a:r>
              <a:rPr sz="2025" b="1">
                <a:solidFill>
                  <a:srgbClr val="000000"/>
                </a:solidFill>
                <a:latin typeface="Times New Roman"/>
                <a:ea typeface="Times New Roman"/>
                <a:cs typeface="Times New Roman"/>
              </a:rPr>
              <a:t>2. Texas Instruments, DRV8833 Dual H-Bridge Motor Driver, datasheet.</a:t>
            </a:r>
          </a:p>
        </p:txBody>
      </p:sp>
      <p:sp>
        <p:nvSpPr>
          <p:cNvPr id="5" name="Rectangle 4">
            <a:extLst>
              <a:ext uri="{FF2B5EF4-FFF2-40B4-BE49-F238E27FC236}">
                <a16:creationId xmlns:a16="http://schemas.microsoft.com/office/drawing/2014/main" id="{B9F744C7-C00A-41B9-8BDA-0784FF65A267}"/>
              </a:ext>
            </a:extLst>
          </p:cNvPr>
          <p:cNvSpPr>
            <a:spLocks noGrp="1"/>
          </p:cNvSpPr>
          <p:nvPr/>
        </p:nvSpPr>
        <p:spPr>
          <a:xfrm>
            <a:off x="723900" y="3524250"/>
            <a:ext cx="10744200" cy="762000"/>
          </a:xfrm>
          <a:prstGeom prst="rect">
            <a:avLst/>
          </a:prstGeom>
          <a:noFill/>
          <a:ln w="0">
            <a:noFill/>
          </a:ln>
        </p:spPr>
        <p:txBody>
          <a:bodyPr lIns="0" tIns="0" rIns="0" bIns="0">
            <a:noAutofit/>
          </a:bodyPr>
          <a:lstStyle/>
          <a:p>
            <a:pPr algn="l">
              <a:defRPr sz="2025" b="1">
                <a:solidFill>
                  <a:srgbClr val="000000"/>
                </a:solidFill>
                <a:latin typeface="Times New Roman"/>
                <a:ea typeface="Times New Roman"/>
                <a:cs typeface="Times New Roman"/>
              </a:defRPr>
            </a:pPr>
            <a:r>
              <a:rPr sz="2025" b="1">
                <a:solidFill>
                  <a:srgbClr val="000000"/>
                </a:solidFill>
                <a:latin typeface="Times New Roman"/>
                <a:ea typeface="Times New Roman"/>
                <a:cs typeface="Times New Roman"/>
              </a:rPr>
              <a:t>3. Solomon Systech, SSD1306 128×64 Dot Matrix OLED Driver, datasheet.</a:t>
            </a:r>
          </a:p>
        </p:txBody>
      </p:sp>
      <p:sp>
        <p:nvSpPr>
          <p:cNvPr id="6" name="Rectangle 5">
            <a:extLst>
              <a:ext uri="{FF2B5EF4-FFF2-40B4-BE49-F238E27FC236}">
                <a16:creationId xmlns:a16="http://schemas.microsoft.com/office/drawing/2014/main" id="{DC4C5AC7-B4DD-4D85-B2A3-426DC0E6D514}"/>
              </a:ext>
            </a:extLst>
          </p:cNvPr>
          <p:cNvSpPr>
            <a:spLocks noGrp="1"/>
          </p:cNvSpPr>
          <p:nvPr/>
        </p:nvSpPr>
        <p:spPr>
          <a:xfrm>
            <a:off x="723900" y="4381500"/>
            <a:ext cx="10744200" cy="762000"/>
          </a:xfrm>
          <a:prstGeom prst="rect">
            <a:avLst/>
          </a:prstGeom>
          <a:noFill/>
          <a:ln w="0">
            <a:noFill/>
          </a:ln>
        </p:spPr>
        <p:txBody>
          <a:bodyPr lIns="0" tIns="0" rIns="0" bIns="0">
            <a:noAutofit/>
          </a:bodyPr>
          <a:lstStyle/>
          <a:p>
            <a:pPr algn="l">
              <a:defRPr sz="2025" b="1">
                <a:solidFill>
                  <a:srgbClr val="000000"/>
                </a:solidFill>
                <a:latin typeface="Times New Roman"/>
                <a:ea typeface="Times New Roman"/>
                <a:cs typeface="Times New Roman"/>
              </a:defRPr>
            </a:pPr>
            <a:r>
              <a:rPr sz="2025" b="1">
                <a:solidFill>
                  <a:srgbClr val="000000"/>
                </a:solidFill>
                <a:latin typeface="Times New Roman"/>
                <a:ea typeface="Times New Roman"/>
                <a:cs typeface="Times New Roman"/>
              </a:rPr>
              <a:t>4. Espressif Systems, ESP32-WROOM-32 Datasheet.</a:t>
            </a:r>
          </a:p>
        </p:txBody>
      </p:sp>
    </p:spTree>
    <p:extLst>
      <p:ext uri="{BB962C8B-B14F-4D97-AF65-F5344CB8AC3E}">
        <p14:creationId xmlns:p14="http://schemas.microsoft.com/office/powerpoint/2010/main" val="3066463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Mesh</Template>
  <TotalTime>3</TotalTime>
  <Words>1766</Words>
  <Application>Microsoft Macintosh PowerPoint</Application>
  <PresentationFormat>Widescreen</PresentationFormat>
  <Paragraphs>239</Paragraphs>
  <Slides>20</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Times New Roman</vt:lpstr>
      <vt:lpstr>Office Theme</vt:lpstr>
      <vt:lpstr>Design of an Automated Warehouse Ventilation System</vt:lpstr>
      <vt:lpstr>Outline</vt:lpstr>
      <vt:lpstr>Background</vt:lpstr>
      <vt:lpstr>Problem Statement</vt:lpstr>
      <vt:lpstr>Need Analysis</vt:lpstr>
      <vt:lpstr>Design Goal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Completed System</vt:lpstr>
      <vt:lpstr>PowerPoint Presentation</vt:lpstr>
      <vt:lpstr>PowerPoint Presentation</vt:lpstr>
      <vt:lpstr>Conclusion</vt:lpstr>
      <vt:lpstr>PowerPoint Presentation</vt:lpstr>
      <vt:lpstr>Thank you!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Tabb, Tabitha (ttabb1)</dc:creator>
  <cp:lastModifiedBy>Tabb, Tabitha (ttabb1)</cp:lastModifiedBy>
  <cp:revision>3</cp:revision>
  <dcterms:created xsi:type="dcterms:W3CDTF">2026-10-02T18:10:29Z</dcterms:created>
  <dcterms:modified xsi:type="dcterms:W3CDTF">2026-10-02T20:16:56Z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c6bc328-2da9-4b02-83d3-3cec76ab836e_Enabled">
    <vt:lpwstr>true</vt:lpwstr>
  </property>
  <property fmtid="{D5CDD505-2E9C-101B-9397-08002B2CF9AE}" pid="3" name="MSIP_Label_cc6bc328-2da9-4b02-83d3-3cec76ab836e_SetDate">
    <vt:lpwstr>2026-10-02T20:16:41Z</vt:lpwstr>
  </property>
  <property fmtid="{D5CDD505-2E9C-101B-9397-08002B2CF9AE}" pid="4" name="MSIP_Label_cc6bc328-2da9-4b02-83d3-3cec76ab836e_Method">
    <vt:lpwstr>Privileged</vt:lpwstr>
  </property>
  <property fmtid="{D5CDD505-2E9C-101B-9397-08002B2CF9AE}" pid="5" name="MSIP_Label_cc6bc328-2da9-4b02-83d3-3cec76ab836e_Name">
    <vt:lpwstr>defa4170-0d19-0005-0004-bc88714345d2</vt:lpwstr>
  </property>
  <property fmtid="{D5CDD505-2E9C-101B-9397-08002B2CF9AE}" pid="6" name="MSIP_Label_cc6bc328-2da9-4b02-83d3-3cec76ab836e_SiteId">
    <vt:lpwstr>7c539505-f129-46ae-a6cf-ecaf413b8b0d</vt:lpwstr>
  </property>
  <property fmtid="{D5CDD505-2E9C-101B-9397-08002B2CF9AE}" pid="7" name="MSIP_Label_cc6bc328-2da9-4b02-83d3-3cec76ab836e_ActionId">
    <vt:lpwstr>c77318d1-0cfb-45ca-8fe7-8d449c92e699</vt:lpwstr>
  </property>
  <property fmtid="{D5CDD505-2E9C-101B-9397-08002B2CF9AE}" pid="8" name="MSIP_Label_cc6bc328-2da9-4b02-83d3-3cec76ab836e_ContentBits">
    <vt:lpwstr>0</vt:lpwstr>
  </property>
  <property fmtid="{D5CDD505-2E9C-101B-9397-08002B2CF9AE}" pid="9" name="MSIP_Label_cc6bc328-2da9-4b02-83d3-3cec76ab836e_Tag">
    <vt:lpwstr>50, 0, 1, 1</vt:lpwstr>
  </property>
</Properties>
</file>